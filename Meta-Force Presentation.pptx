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70" r:id="rId33"/>
    <p:sldId id="261" r:id="rId12"/>
    <p:sldId id="271" r:id="rId34"/>
    <p:sldId id="262" r:id="rId13"/>
    <p:sldId id="272" r:id="rId35"/>
    <p:sldId id="263" r:id="rId14"/>
    <p:sldId id="273" r:id="rId36"/>
    <p:sldId id="264" r:id="rId15"/>
    <p:sldId id="274" r:id="rId37"/>
    <p:sldId id="265" r:id="rId16"/>
    <p:sldId id="266" r:id="rId17"/>
    <p:sldId id="267" r:id="rId18"/>
    <p:sldId id="275" r:id="rId38"/>
    <p:sldId id="268" r:id="rId19"/>
    <p:sldId id="269" r:id="rId20"/>
  </p:sldIdLst>
  <p:sldSz cy="6858000" cx="12192000"/>
  <p:notesSz cx="6858000" cy="9144000"/>
  <p:embeddedFontLst>
    <p:embeddedFont>
      <p:font typeface="Plus Jakarta Sans"/>
      <p:regular r:id="rId21"/>
      <p:bold r:id="rId22"/>
      <p:italic r:id="rId23"/>
      <p:boldItalic r:id="rId24"/>
    </p:embeddedFont>
    <p:embeddedFont>
      <p:font typeface="Outfit"/>
      <p:regular r:id="rId25"/>
      <p:bold r:id="rId26"/>
    </p:embeddedFont>
    <p:embeddedFont>
      <p:font typeface="Plus Jakarta Sans Light"/>
      <p:regular r:id="rId27"/>
      <p:bold r:id="rId28"/>
      <p:italic r:id="rId29"/>
      <p:boldItalic r:id="rId30"/>
    </p:embeddedFont>
    <p:embeddedFont>
      <p:font typeface="Outfit SemiBold"/>
      <p:regular r:id="rId31"/>
      <p:bold r:id="rId3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8133654-2377-4784-93EE-9AE52F3151C9}">
  <a:tblStyle styleId="{F8133654-2377-4784-93EE-9AE52F3151C9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font" Target="fonts/PlusJakartaSans-regular.fntdata"/><Relationship Id="rId22" Type="http://schemas.openxmlformats.org/officeDocument/2006/relationships/font" Target="fonts/PlusJakartaSans-bold.fntdata"/><Relationship Id="rId23" Type="http://schemas.openxmlformats.org/officeDocument/2006/relationships/font" Target="fonts/PlusJakartaSans-italic.fntdata"/><Relationship Id="rId24" Type="http://schemas.openxmlformats.org/officeDocument/2006/relationships/font" Target="fonts/PlusJakartaSans-boldItalic.fntdata"/><Relationship Id="rId25" Type="http://schemas.openxmlformats.org/officeDocument/2006/relationships/font" Target="fonts/Outfit-regular.fntdata"/><Relationship Id="rId26" Type="http://schemas.openxmlformats.org/officeDocument/2006/relationships/font" Target="fonts/Outfit-bold.fntdata"/><Relationship Id="rId27" Type="http://schemas.openxmlformats.org/officeDocument/2006/relationships/font" Target="fonts/PlusJakartaSansLight-regular.fntdata"/><Relationship Id="rId28" Type="http://schemas.openxmlformats.org/officeDocument/2006/relationships/font" Target="fonts/PlusJakartaSansLight-bold.fntdata"/><Relationship Id="rId29" Type="http://schemas.openxmlformats.org/officeDocument/2006/relationships/font" Target="fonts/PlusJakartaSansLight-italic.fntdata"/><Relationship Id="rId30" Type="http://schemas.openxmlformats.org/officeDocument/2006/relationships/font" Target="fonts/PlusJakartaSansLight-boldItalic.fntdata"/><Relationship Id="rId31" Type="http://schemas.openxmlformats.org/officeDocument/2006/relationships/font" Target="fonts/OutfitSemiBold-regular.fntdata"/><Relationship Id="rId32" Type="http://schemas.openxmlformats.org/officeDocument/2006/relationships/font" Target="fonts/OutfitSemiBold-bold.fntdata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slide" Target="slides/slide19.xml"/><Relationship Id="rId38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10.png"/><Relationship Id="rId5" Type="http://schemas.openxmlformats.org/officeDocument/2006/relationships/image" Target="../media/image3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png"/><Relationship Id="rId4" Type="http://schemas.openxmlformats.org/officeDocument/2006/relationships/image" Target="../media/image3.png"/><Relationship Id="rId5" Type="http://schemas.openxmlformats.org/officeDocument/2006/relationships/image" Target="../media/image6.png"/><Relationship Id="rId6" Type="http://schemas.openxmlformats.org/officeDocument/2006/relationships/image" Target="../media/image13.png"/><Relationship Id="rId7" Type="http://schemas.openxmlformats.org/officeDocument/2006/relationships/image" Target="../media/image4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2.png"/><Relationship Id="rId4" Type="http://schemas.openxmlformats.org/officeDocument/2006/relationships/image" Target="../media/image1.png"/><Relationship Id="rId5" Type="http://schemas.openxmlformats.org/officeDocument/2006/relationships/image" Target="../media/image14.png"/><Relationship Id="rId6" Type="http://schemas.openxmlformats.org/officeDocument/2006/relationships/image" Target="../media/image11.png"/><Relationship Id="rId7" Type="http://schemas.openxmlformats.org/officeDocument/2006/relationships/image" Target="../media/image4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Relationship Id="rId4" Type="http://schemas.openxmlformats.org/officeDocument/2006/relationships/image" Target="../media/image5.png"/><Relationship Id="rId5" Type="http://schemas.openxmlformats.org/officeDocument/2006/relationships/image" Target="../media/image34.png"/><Relationship Id="rId6" Type="http://schemas.openxmlformats.org/officeDocument/2006/relationships/image" Target="../media/image9.png"/><Relationship Id="rId7" Type="http://schemas.openxmlformats.org/officeDocument/2006/relationships/image" Target="../media/image8.png"/><Relationship Id="rId8" Type="http://schemas.openxmlformats.org/officeDocument/2006/relationships/image" Target="../media/image2.png"/><Relationship Id="rId9" Type="http://schemas.openxmlformats.org/officeDocument/2006/relationships/image" Target="../media/image28.png"/><Relationship Id="rId10" Type="http://schemas.openxmlformats.org/officeDocument/2006/relationships/image" Target="../media/image7.png"/><Relationship Id="rId11" Type="http://schemas.openxmlformats.org/officeDocument/2006/relationships/image" Target="../media/image15.png"/><Relationship Id="rId12" Type="http://schemas.openxmlformats.org/officeDocument/2006/relationships/image" Target="../media/image3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2.png"/><Relationship Id="rId4" Type="http://schemas.openxmlformats.org/officeDocument/2006/relationships/image" Target="../media/image17.png"/><Relationship Id="rId5" Type="http://schemas.openxmlformats.org/officeDocument/2006/relationships/image" Target="../media/image3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.png"/><Relationship Id="rId4" Type="http://schemas.openxmlformats.org/officeDocument/2006/relationships/image" Target="../media/image3.png"/><Relationship Id="rId5" Type="http://schemas.openxmlformats.org/officeDocument/2006/relationships/image" Target="../media/image16.png"/><Relationship Id="rId6" Type="http://schemas.openxmlformats.org/officeDocument/2006/relationships/image" Target="../media/image21.png"/><Relationship Id="rId7" Type="http://schemas.openxmlformats.org/officeDocument/2006/relationships/image" Target="../media/image4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36.png"/><Relationship Id="rId5" Type="http://schemas.openxmlformats.org/officeDocument/2006/relationships/image" Target="../media/image25.png"/><Relationship Id="rId6" Type="http://schemas.openxmlformats.org/officeDocument/2006/relationships/image" Target="../media/image4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png"/><Relationship Id="rId4" Type="http://schemas.openxmlformats.org/officeDocument/2006/relationships/image" Target="../media/image1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4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3.png"/><Relationship Id="rId5" Type="http://schemas.openxmlformats.org/officeDocument/2006/relationships/image" Target="../media/image19.png"/><Relationship Id="rId6" Type="http://schemas.openxmlformats.org/officeDocument/2006/relationships/image" Target="../media/image40.png"/><Relationship Id="rId7" Type="http://schemas.openxmlformats.org/officeDocument/2006/relationships/image" Target="../media/image5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png"/><Relationship Id="rId4" Type="http://schemas.openxmlformats.org/officeDocument/2006/relationships/image" Target="../media/image18.png"/><Relationship Id="rId5" Type="http://schemas.openxmlformats.org/officeDocument/2006/relationships/image" Target="../media/image5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Relationship Id="rId4" Type="http://schemas.openxmlformats.org/officeDocument/2006/relationships/image" Target="../media/image30.png"/><Relationship Id="rId5" Type="http://schemas.openxmlformats.org/officeDocument/2006/relationships/image" Target="../media/image20.png"/><Relationship Id="rId6" Type="http://schemas.openxmlformats.org/officeDocument/2006/relationships/image" Target="../media/image37.png"/><Relationship Id="rId7" Type="http://schemas.openxmlformats.org/officeDocument/2006/relationships/image" Target="../media/image22.png"/><Relationship Id="rId8" Type="http://schemas.openxmlformats.org/officeDocument/2006/relationships/image" Target="../media/image39.png"/><Relationship Id="rId9" Type="http://schemas.openxmlformats.org/officeDocument/2006/relationships/image" Target="../media/image26.png"/><Relationship Id="rId10" Type="http://schemas.openxmlformats.org/officeDocument/2006/relationships/image" Target="../media/image29.png"/><Relationship Id="rId11" Type="http://schemas.openxmlformats.org/officeDocument/2006/relationships/image" Target="../media/image32.png"/><Relationship Id="rId12" Type="http://schemas.openxmlformats.org/officeDocument/2006/relationships/image" Target="../media/image3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Relationship Id="rId4" Type="http://schemas.openxmlformats.org/officeDocument/2006/relationships/image" Target="../media/image3.png"/><Relationship Id="rId5" Type="http://schemas.openxmlformats.org/officeDocument/2006/relationships/image" Target="../media/image19.png"/><Relationship Id="rId6" Type="http://schemas.openxmlformats.org/officeDocument/2006/relationships/image" Target="../media/image27.png"/><Relationship Id="rId7" Type="http://schemas.openxmlformats.org/officeDocument/2006/relationships/image" Target="../media/image5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3.png"/><Relationship Id="rId3" Type="http://schemas.openxmlformats.org/officeDocument/2006/relationships/image" Target="../media/image12.png"/><Relationship Id="rId4" Type="http://schemas.openxmlformats.org/officeDocument/2006/relationships/image" Target="../media/image3.png"/><Relationship Id="rId5" Type="http://schemas.openxmlformats.org/officeDocument/2006/relationships/image" Target="../media/image6.png"/><Relationship Id="rId6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4.png"/><Relationship Id="rId3" Type="http://schemas.openxmlformats.org/officeDocument/2006/relationships/image" Target="../media/image12.png"/><Relationship Id="rId4" Type="http://schemas.openxmlformats.org/officeDocument/2006/relationships/image" Target="../media/image3.png"/><Relationship Id="rId5" Type="http://schemas.openxmlformats.org/officeDocument/2006/relationships/image" Target="../media/image6.png"/><Relationship Id="rId6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6.png"/><Relationship Id="rId3" Type="http://schemas.openxmlformats.org/officeDocument/2006/relationships/image" Target="../media/image12.png"/><Relationship Id="rId4" Type="http://schemas.openxmlformats.org/officeDocument/2006/relationships/image" Target="../media/image3.png"/><Relationship Id="rId5" Type="http://schemas.openxmlformats.org/officeDocument/2006/relationships/image" Target="../media/image16.png"/><Relationship Id="rId6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8.png"/><Relationship Id="rId3" Type="http://schemas.openxmlformats.org/officeDocument/2006/relationships/image" Target="../media/image4.png"/><Relationship Id="rId4" Type="http://schemas.openxmlformats.org/officeDocument/2006/relationships/image" Target="../media/image36.png"/><Relationship Id="rId5" Type="http://schemas.openxmlformats.org/officeDocument/2006/relationships/image" Target="../media/image2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0.png"/><Relationship Id="rId3" Type="http://schemas.openxmlformats.org/officeDocument/2006/relationships/image" Target="../media/image12.png"/><Relationship Id="rId4" Type="http://schemas.openxmlformats.org/officeDocument/2006/relationships/image" Target="../media/image1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3.png"/><Relationship Id="rId3" Type="http://schemas.openxmlformats.org/officeDocument/2006/relationships/image" Target="../media/image12.png"/><Relationship Id="rId4" Type="http://schemas.openxmlformats.org/officeDocument/2006/relationships/image" Target="../media/image3.png"/><Relationship Id="rId5" Type="http://schemas.openxmlformats.org/officeDocument/2006/relationships/image" Target="../media/image6.png"/><Relationship Id="rId6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827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3365717" y="2336524"/>
            <a:ext cx="5460300" cy="11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496" u="none" cap="none" strike="noStrike">
                <a:solidFill>
                  <a:srgbClr val="F9FAFB"/>
                </a:solidFill>
                <a:latin typeface="Outfit"/>
                <a:ea typeface="Outfit"/>
                <a:cs typeface="Outfit"/>
                <a:sym typeface="Outfit"/>
              </a:rPr>
              <a:t>Meta-</a:t>
            </a:r>
            <a:r>
              <a:rPr b="1" i="0" lang="en-US" sz="7496" u="none" cap="none" strike="noStrike">
                <a:solidFill>
                  <a:srgbClr val="10B981"/>
                </a:solidFill>
                <a:latin typeface="Outfit"/>
                <a:ea typeface="Outfit"/>
                <a:cs typeface="Outfit"/>
                <a:sym typeface="Outfit"/>
              </a:rPr>
              <a:t>Force</a:t>
            </a:r>
            <a:endParaRPr sz="1749"/>
          </a:p>
        </p:txBody>
      </p:sp>
      <p:sp>
        <p:nvSpPr>
          <p:cNvPr id="86" name="Google Shape;86;p13"/>
          <p:cNvSpPr txBox="1"/>
          <p:nvPr/>
        </p:nvSpPr>
        <p:spPr>
          <a:xfrm>
            <a:off x="2811450" y="3621781"/>
            <a:ext cx="6569100" cy="8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49" u="none" cap="none" strike="noStrike">
                <a:solidFill>
                  <a:srgbClr val="9CA3AF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Plataforma Integral de Gestión de Gimnasios.</a:t>
            </a:r>
            <a:br>
              <a:rPr b="0" i="0" lang="en-US" sz="224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2249" u="none" cap="none" strike="noStrike">
                <a:solidFill>
                  <a:srgbClr val="9CA3AF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 Guía Oficial de Exposición Técnica y de Negocio.</a:t>
            </a:r>
            <a:endParaRPr sz="1749"/>
          </a:p>
        </p:txBody>
      </p:sp>
      <p:sp>
        <p:nvSpPr>
          <p:cNvPr id="87" name="Google Shape;87;p13"/>
          <p:cNvSpPr txBox="1"/>
          <p:nvPr/>
        </p:nvSpPr>
        <p:spPr>
          <a:xfrm>
            <a:off x="92675" y="5815450"/>
            <a:ext cx="30000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9CA3AF"/>
                </a:solidFill>
              </a:rPr>
              <a:t>Equipo: </a:t>
            </a:r>
            <a:endParaRPr sz="1200">
              <a:solidFill>
                <a:srgbClr val="9CA3A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9CA3AF"/>
                </a:solidFill>
              </a:rPr>
              <a:t>Salvador B. </a:t>
            </a:r>
            <a:endParaRPr sz="1200">
              <a:solidFill>
                <a:srgbClr val="9CA3A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9CA3AF"/>
                </a:solidFill>
              </a:rPr>
              <a:t>Mario G. </a:t>
            </a:r>
            <a:endParaRPr sz="1200">
              <a:solidFill>
                <a:srgbClr val="9CA3A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9CA3AF"/>
                </a:solidFill>
              </a:rPr>
              <a:t>Samuel G.</a:t>
            </a:r>
            <a:endParaRPr sz="1800">
              <a:solidFill>
                <a:srgbClr val="9CA3AF"/>
              </a:solidFill>
              <a:latin typeface="Plus Jakarta Sans Light"/>
              <a:ea typeface="Plus Jakarta Sans Light"/>
              <a:cs typeface="Plus Jakarta Sans Light"/>
              <a:sym typeface="Plus Jakarta Sans Ligh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827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2" name="Google Shape;9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3" name="Google Shape;93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762000"/>
            <a:ext cx="4953000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4"/>
          <p:cNvSpPr txBox="1"/>
          <p:nvPr/>
        </p:nvSpPr>
        <p:spPr>
          <a:xfrm>
            <a:off x="571500" y="1314450"/>
            <a:ext cx="5200650" cy="657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125" u="none" cap="none" strike="noStrike">
                <a:solidFill>
                  <a:srgbClr val="10B981"/>
                </a:solidFill>
                <a:latin typeface="Outfit"/>
                <a:ea typeface="Outfit"/>
                <a:cs typeface="Outfit"/>
                <a:sym typeface="Outfit"/>
              </a:rPr>
              <a:t>Concepto Principal</a:t>
            </a:r>
            <a:endParaRPr/>
          </a:p>
        </p:txBody>
      </p:sp>
      <p:pic>
        <p:nvPicPr>
          <p:cNvPr descr="image.png" id="95" name="Google Shape;95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4"/>
          <p:cNvSpPr txBox="1"/>
          <p:nvPr/>
        </p:nvSpPr>
        <p:spPr>
          <a:xfrm>
            <a:off x="571500" y="2352675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Una plataforma SaaS completa y escalable diseñada para la gestión integral de instalaciones deportivas.</a:t>
            </a:r>
            <a:endParaRPr/>
          </a:p>
        </p:txBody>
      </p:sp>
      <p:sp>
        <p:nvSpPr>
          <p:cNvPr id="97" name="Google Shape;97;p14"/>
          <p:cNvSpPr/>
          <p:nvPr/>
        </p:nvSpPr>
        <p:spPr>
          <a:xfrm>
            <a:off x="571500" y="3438525"/>
            <a:ext cx="4953000" cy="1181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4"/>
          <p:cNvSpPr txBox="1"/>
          <p:nvPr/>
        </p:nvSpPr>
        <p:spPr>
          <a:xfrm>
            <a:off x="857250" y="3629025"/>
            <a:ext cx="43815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 u="none" cap="none" strike="noStrike">
                <a:solidFill>
                  <a:srgbClr val="000000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b="0" i="1" lang="en-US" sz="1200" u="none" cap="none" strike="noStrike">
                <a:solidFill>
                  <a:srgbClr val="000000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"Buenos días. Hoy os presentamos Meta-Force. Para la exposición vamos a guiarnos a través de este dashboard interactivo, donde podéis ver el acceso al código y al despliegue real." </a:t>
            </a:r>
            <a:endParaRPr/>
          </a:p>
        </p:txBody>
      </p:sp>
      <p:sp>
        <p:nvSpPr>
          <p:cNvPr id="99" name="Google Shape;99;p14"/>
          <p:cNvSpPr/>
          <p:nvPr/>
        </p:nvSpPr>
        <p:spPr>
          <a:xfrm>
            <a:off x="571500" y="3438525"/>
            <a:ext cx="38100" cy="1181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827"/>
        </a:solid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4" name="Google Shape;104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6" name="Google Shape;106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1695450"/>
            <a:ext cx="2047875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5"/>
          <p:cNvSpPr txBox="1"/>
          <p:nvPr/>
        </p:nvSpPr>
        <p:spPr>
          <a:xfrm>
            <a:off x="904875" y="224790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Desarrollo Frontend construido sobre </a:t>
            </a:r>
            <a:r>
              <a:rPr b="0" i="0" lang="en-US" sz="1500" u="none" cap="none" strike="noStrike">
                <a:solidFill>
                  <a:srgbClr val="D1D5D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Angular 19</a:t>
            </a: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.</a:t>
            </a:r>
            <a:endParaRPr/>
          </a:p>
        </p:txBody>
      </p:sp>
      <p:sp>
        <p:nvSpPr>
          <p:cNvPr id="108" name="Google Shape;108;p15"/>
          <p:cNvSpPr txBox="1"/>
          <p:nvPr/>
        </p:nvSpPr>
        <p:spPr>
          <a:xfrm>
            <a:off x="904875" y="2790825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Diseño 100% responsivo y adaptativo para dispositivos móviles.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904875" y="3638550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Flujos seguros de registro e inicio de sesión para nuevos clientes.</a:t>
            </a:r>
            <a:endParaRPr/>
          </a:p>
        </p:txBody>
      </p:sp>
      <p:sp>
        <p:nvSpPr>
          <p:cNvPr id="110" name="Google Shape;110;p15"/>
          <p:cNvSpPr txBox="1"/>
          <p:nvPr/>
        </p:nvSpPr>
        <p:spPr>
          <a:xfrm>
            <a:off x="904875" y="4486275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Optimización de rendimiento y experiencia de usuario fluida.</a:t>
            </a:r>
            <a:endParaRPr/>
          </a:p>
        </p:txBody>
      </p:sp>
      <p:sp>
        <p:nvSpPr>
          <p:cNvPr id="112" name="Google Shape;112;p15"/>
          <p:cNvSpPr txBox="1"/>
          <p:nvPr/>
        </p:nvSpPr>
        <p:spPr>
          <a:xfrm>
            <a:off x="571500" y="2247900"/>
            <a:ext cx="1047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0B981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▹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571500" y="2790825"/>
            <a:ext cx="1047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0B981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▹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571500" y="3638550"/>
            <a:ext cx="1047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0B981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▹</a:t>
            </a:r>
            <a:endParaRPr/>
          </a:p>
        </p:txBody>
      </p:sp>
      <p:sp>
        <p:nvSpPr>
          <p:cNvPr id="115" name="Google Shape;115;p15"/>
          <p:cNvSpPr txBox="1"/>
          <p:nvPr/>
        </p:nvSpPr>
        <p:spPr>
          <a:xfrm>
            <a:off x="571500" y="4486275"/>
            <a:ext cx="1047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0B981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▹</a:t>
            </a:r>
            <a:endParaRPr/>
          </a:p>
        </p:txBody>
      </p:sp>
      <p:sp>
        <p:nvSpPr>
          <p:cNvPr id="116" name="Google Shape;116;p15"/>
          <p:cNvSpPr txBox="1"/>
          <p:nvPr/>
        </p:nvSpPr>
        <p:spPr>
          <a:xfrm>
            <a:off x="571500" y="571500"/>
            <a:ext cx="11601450" cy="657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125" u="none" cap="none" strike="noStrike">
                <a:solidFill>
                  <a:srgbClr val="10B981"/>
                </a:solidFill>
                <a:latin typeface="Outfit"/>
                <a:ea typeface="Outfit"/>
                <a:cs typeface="Outfit"/>
                <a:sym typeface="Outfit"/>
              </a:rPr>
              <a:t>Portal Público</a:t>
            </a:r>
            <a:endParaRPr/>
          </a:p>
        </p:txBody>
      </p:sp>
      <p:pic>
        <p:nvPicPr>
          <p:cNvPr id="117" name="Picture 116" descr="01-landin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16933" y="1609725"/>
            <a:ext cx="4520759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827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1" name="Google Shape;121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3" name="Google Shape;123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34125" y="1695450"/>
            <a:ext cx="2047875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16"/>
          <p:cNvSpPr txBox="1"/>
          <p:nvPr/>
        </p:nvSpPr>
        <p:spPr>
          <a:xfrm>
            <a:off x="6667500" y="224790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Panel exclusivo para el perfil de </a:t>
            </a:r>
            <a:r>
              <a:rPr b="0" i="0" lang="en-US" sz="1500" u="none" cap="none" strike="noStrike">
                <a:solidFill>
                  <a:srgbClr val="D1D5D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Superadmin</a:t>
            </a: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.</a:t>
            </a:r>
            <a:endParaRPr/>
          </a:p>
        </p:txBody>
      </p:sp>
      <p:sp>
        <p:nvSpPr>
          <p:cNvPr id="126" name="Google Shape;126;p16"/>
          <p:cNvSpPr txBox="1"/>
          <p:nvPr/>
        </p:nvSpPr>
        <p:spPr>
          <a:xfrm>
            <a:off x="6667500" y="2790825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Monitorización de estadísticas clave del negocio en tiempo real.</a:t>
            </a:r>
            <a:endParaRPr/>
          </a:p>
        </p:txBody>
      </p:sp>
      <p:sp>
        <p:nvSpPr>
          <p:cNvPr id="127" name="Google Shape;127;p16"/>
          <p:cNvSpPr txBox="1"/>
          <p:nvPr/>
        </p:nvSpPr>
        <p:spPr>
          <a:xfrm>
            <a:off x="6667500" y="3638550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Control de usuarios activos y evolución de suscripciones mensuales.</a:t>
            </a:r>
            <a:endParaRPr/>
          </a:p>
        </p:txBody>
      </p:sp>
      <p:sp>
        <p:nvSpPr>
          <p:cNvPr id="128" name="Google Shape;128;p16"/>
          <p:cNvSpPr txBox="1"/>
          <p:nvPr/>
        </p:nvSpPr>
        <p:spPr>
          <a:xfrm>
            <a:off x="6667500" y="4486275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Alertas del sistema y métricas de crecimiento centralizadas.</a:t>
            </a:r>
            <a:endParaRPr/>
          </a:p>
        </p:txBody>
      </p:sp>
      <p:sp>
        <p:nvSpPr>
          <p:cNvPr id="129" name="Google Shape;129;p16"/>
          <p:cNvSpPr txBox="1"/>
          <p:nvPr/>
        </p:nvSpPr>
        <p:spPr>
          <a:xfrm>
            <a:off x="6334125" y="2247900"/>
            <a:ext cx="1047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0B981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▹</a:t>
            </a:r>
            <a:endParaRPr/>
          </a:p>
        </p:txBody>
      </p:sp>
      <p:sp>
        <p:nvSpPr>
          <p:cNvPr id="130" name="Google Shape;130;p16"/>
          <p:cNvSpPr txBox="1"/>
          <p:nvPr/>
        </p:nvSpPr>
        <p:spPr>
          <a:xfrm>
            <a:off x="6334125" y="2790825"/>
            <a:ext cx="1047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0B981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▹</a:t>
            </a:r>
            <a:endParaRPr/>
          </a:p>
        </p:txBody>
      </p:sp>
      <p:sp>
        <p:nvSpPr>
          <p:cNvPr id="131" name="Google Shape;131;p16"/>
          <p:cNvSpPr txBox="1"/>
          <p:nvPr/>
        </p:nvSpPr>
        <p:spPr>
          <a:xfrm>
            <a:off x="6334125" y="3638550"/>
            <a:ext cx="1047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0B981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▹</a:t>
            </a:r>
            <a:endParaRPr/>
          </a:p>
        </p:txBody>
      </p:sp>
      <p:sp>
        <p:nvSpPr>
          <p:cNvPr id="132" name="Google Shape;132;p16"/>
          <p:cNvSpPr txBox="1"/>
          <p:nvPr/>
        </p:nvSpPr>
        <p:spPr>
          <a:xfrm>
            <a:off x="6334125" y="4486275"/>
            <a:ext cx="1047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0B981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▹</a:t>
            </a:r>
            <a:endParaRPr/>
          </a:p>
        </p:txBody>
      </p:sp>
      <p:sp>
        <p:nvSpPr>
          <p:cNvPr id="133" name="Google Shape;133;p16"/>
          <p:cNvSpPr txBox="1"/>
          <p:nvPr/>
        </p:nvSpPr>
        <p:spPr>
          <a:xfrm>
            <a:off x="571500" y="571500"/>
            <a:ext cx="11601450" cy="657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125" u="none" cap="none" strike="noStrike">
                <a:solidFill>
                  <a:srgbClr val="10B981"/>
                </a:solidFill>
                <a:latin typeface="Outfit"/>
                <a:ea typeface="Outfit"/>
                <a:cs typeface="Outfit"/>
                <a:sym typeface="Outfit"/>
              </a:rPr>
              <a:t>Consola de Control</a:t>
            </a:r>
            <a:endParaRPr/>
          </a:p>
        </p:txBody>
      </p:sp>
      <p:pic>
        <p:nvPicPr>
          <p:cNvPr id="134" name="Picture 133" descr="02-dashboar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5210" y="1609725"/>
            <a:ext cx="4498954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827"/>
        </a:solid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8" name="Google Shape;138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9" name="Google Shape;139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609725"/>
            <a:ext cx="3429000" cy="31279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0" name="Google Shape;140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81500" y="1609725"/>
            <a:ext cx="3429000" cy="31279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1" name="Google Shape;141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91500" y="1609725"/>
            <a:ext cx="3429000" cy="31279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2" name="Google Shape;142;p1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905000" y="2000250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17"/>
          <p:cNvSpPr txBox="1"/>
          <p:nvPr/>
        </p:nvSpPr>
        <p:spPr>
          <a:xfrm>
            <a:off x="1715928" y="3000375"/>
            <a:ext cx="1140142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6B6D4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Centros</a:t>
            </a:r>
            <a:endParaRPr/>
          </a:p>
        </p:txBody>
      </p:sp>
      <p:sp>
        <p:nvSpPr>
          <p:cNvPr id="144" name="Google Shape;144;p17"/>
          <p:cNvSpPr txBox="1"/>
          <p:nvPr/>
        </p:nvSpPr>
        <p:spPr>
          <a:xfrm>
            <a:off x="866775" y="3524250"/>
            <a:ext cx="2838450" cy="8228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Administración multi-sucursal con configuración independiente de aforos y recursos disponibles.</a:t>
            </a:r>
            <a:endParaRPr/>
          </a:p>
        </p:txBody>
      </p:sp>
      <p:pic>
        <p:nvPicPr>
          <p:cNvPr descr="image.png" id="145" name="Google Shape;145;p1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715000" y="2000250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7"/>
          <p:cNvSpPr txBox="1"/>
          <p:nvPr/>
        </p:nvSpPr>
        <p:spPr>
          <a:xfrm>
            <a:off x="5625941" y="3000375"/>
            <a:ext cx="940117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6B6D4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Clases</a:t>
            </a:r>
            <a:endParaRPr/>
          </a:p>
        </p:txBody>
      </p:sp>
      <p:sp>
        <p:nvSpPr>
          <p:cNvPr id="147" name="Google Shape;147;p17"/>
          <p:cNvSpPr txBox="1"/>
          <p:nvPr/>
        </p:nvSpPr>
        <p:spPr>
          <a:xfrm>
            <a:off x="4676775" y="3524250"/>
            <a:ext cx="2838450" cy="8228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Catálogo dinámico de actividades dirigidas con asignación de instructores y capacidades.</a:t>
            </a:r>
            <a:endParaRPr/>
          </a:p>
        </p:txBody>
      </p:sp>
      <p:pic>
        <p:nvPicPr>
          <p:cNvPr descr="image.png" id="148" name="Google Shape;148;p1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525000" y="2000250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17"/>
          <p:cNvSpPr txBox="1"/>
          <p:nvPr/>
        </p:nvSpPr>
        <p:spPr>
          <a:xfrm>
            <a:off x="9275921" y="3000375"/>
            <a:ext cx="1260157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6B6D4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Horarios</a:t>
            </a:r>
            <a:endParaRPr/>
          </a:p>
        </p:txBody>
      </p:sp>
      <p:sp>
        <p:nvSpPr>
          <p:cNvPr id="150" name="Google Shape;150;p17"/>
          <p:cNvSpPr txBox="1"/>
          <p:nvPr/>
        </p:nvSpPr>
        <p:spPr>
          <a:xfrm>
            <a:off x="8486775" y="3524250"/>
            <a:ext cx="2838450" cy="8228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Interfaz intuitiva con notificaciones visuales ante conflictos o guardado exitoso de calendarios.</a:t>
            </a:r>
            <a:endParaRPr/>
          </a:p>
        </p:txBody>
      </p:sp>
      <p:pic>
        <p:nvPicPr>
          <p:cNvPr descr="image.png" id="151" name="Google Shape;151;p17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2171700" y="2228850"/>
            <a:ext cx="2286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2" name="Google Shape;152;p17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5905500" y="2228850"/>
            <a:ext cx="3810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3" name="Google Shape;153;p17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9772650" y="2228850"/>
            <a:ext cx="266700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17"/>
          <p:cNvSpPr txBox="1"/>
          <p:nvPr/>
        </p:nvSpPr>
        <p:spPr>
          <a:xfrm>
            <a:off x="571500" y="571500"/>
            <a:ext cx="11601450" cy="657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125" u="none" cap="none" strike="noStrike">
                <a:solidFill>
                  <a:srgbClr val="10B981"/>
                </a:solidFill>
                <a:latin typeface="Outfit"/>
                <a:ea typeface="Outfit"/>
                <a:cs typeface="Outfit"/>
                <a:sym typeface="Outfit"/>
              </a:rPr>
              <a:t>Gestión de Operaciones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827"/>
        </a:solidFill>
      </p:bgPr>
    </p:bg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59" name="Google Shape;159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0" name="Google Shape;160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609725"/>
            <a:ext cx="5286375" cy="30670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1" name="Google Shape;161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34125" y="1609725"/>
            <a:ext cx="5286375" cy="3067050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18"/>
          <p:cNvSpPr txBox="1"/>
          <p:nvPr/>
        </p:nvSpPr>
        <p:spPr>
          <a:xfrm>
            <a:off x="962025" y="2000250"/>
            <a:ext cx="4730591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6B6D4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Planes y Facturación PDF</a:t>
            </a:r>
            <a:endParaRPr/>
          </a:p>
        </p:txBody>
      </p:sp>
      <p:sp>
        <p:nvSpPr>
          <p:cNvPr id="163" name="Google Shape;163;p18"/>
          <p:cNvSpPr txBox="1"/>
          <p:nvPr/>
        </p:nvSpPr>
        <p:spPr>
          <a:xfrm>
            <a:off x="962025" y="2571750"/>
            <a:ext cx="4505325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Portal dedicado donde los usuarios pueden explorar y adquirir sus planes de suscripción. El sistema genera automáticamente facturas detalladas descargables en formato PDF para control fiscal y personal.</a:t>
            </a:r>
            <a:endParaRPr/>
          </a:p>
        </p:txBody>
      </p:sp>
      <p:sp>
        <p:nvSpPr>
          <p:cNvPr id="164" name="Google Shape;164;p18"/>
          <p:cNvSpPr txBox="1"/>
          <p:nvPr/>
        </p:nvSpPr>
        <p:spPr>
          <a:xfrm>
            <a:off x="6724650" y="2000250"/>
            <a:ext cx="4730591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6B6D4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Internacionalización (i18n)</a:t>
            </a:r>
            <a:endParaRPr/>
          </a:p>
        </p:txBody>
      </p:sp>
      <p:sp>
        <p:nvSpPr>
          <p:cNvPr id="165" name="Google Shape;165;p18"/>
          <p:cNvSpPr txBox="1"/>
          <p:nvPr/>
        </p:nvSpPr>
        <p:spPr>
          <a:xfrm>
            <a:off x="6724650" y="2571750"/>
            <a:ext cx="4505325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Plataforma traducida nativamente al Español, Inglés y Francés. La arquitectura de internacionalización permite cambiar de idioma en tiempo real sin necesidad de recargar la aplicación (Hot Swap).</a:t>
            </a:r>
            <a:endParaRPr/>
          </a:p>
        </p:txBody>
      </p:sp>
      <p:sp>
        <p:nvSpPr>
          <p:cNvPr id="166" name="Google Shape;166;p18"/>
          <p:cNvSpPr txBox="1"/>
          <p:nvPr/>
        </p:nvSpPr>
        <p:spPr>
          <a:xfrm>
            <a:off x="571500" y="571500"/>
            <a:ext cx="11601450" cy="657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125" u="none" cap="none" strike="noStrike">
                <a:solidFill>
                  <a:srgbClr val="10B981"/>
                </a:solidFill>
                <a:latin typeface="Outfit"/>
                <a:ea typeface="Outfit"/>
                <a:cs typeface="Outfit"/>
                <a:sym typeface="Outfit"/>
              </a:rPr>
              <a:t>Suscripciones y Facturación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827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71" name="Google Shape;171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3" name="Google Shape;173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1966912"/>
            <a:ext cx="2257425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19"/>
          <p:cNvSpPr txBox="1"/>
          <p:nvPr/>
        </p:nvSpPr>
        <p:spPr>
          <a:xfrm>
            <a:off x="904875" y="2519362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Escáner integrado en la plataforma Web para uso del personal en la recepción del centro.</a:t>
            </a:r>
            <a:endParaRPr/>
          </a:p>
        </p:txBody>
      </p:sp>
      <p:sp>
        <p:nvSpPr>
          <p:cNvPr id="175" name="Google Shape;175;p19"/>
          <p:cNvSpPr txBox="1"/>
          <p:nvPr/>
        </p:nvSpPr>
        <p:spPr>
          <a:xfrm>
            <a:off x="904875" y="3367087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Validación instantánea del código QR presentado por el cliente en tiempo real.</a:t>
            </a:r>
            <a:endParaRPr/>
          </a:p>
        </p:txBody>
      </p:sp>
      <p:sp>
        <p:nvSpPr>
          <p:cNvPr id="176" name="Google Shape;176;p19"/>
          <p:cNvSpPr txBox="1"/>
          <p:nvPr/>
        </p:nvSpPr>
        <p:spPr>
          <a:xfrm>
            <a:off x="904875" y="4214812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Registro automático de la entrada/salida y actualización inmediata de aforo.</a:t>
            </a:r>
            <a:endParaRPr/>
          </a:p>
        </p:txBody>
      </p:sp>
      <p:sp>
        <p:nvSpPr>
          <p:cNvPr id="178" name="Google Shape;178;p19"/>
          <p:cNvSpPr txBox="1"/>
          <p:nvPr/>
        </p:nvSpPr>
        <p:spPr>
          <a:xfrm>
            <a:off x="571500" y="2519362"/>
            <a:ext cx="1047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0B981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▹</a:t>
            </a:r>
            <a:endParaRPr/>
          </a:p>
        </p:txBody>
      </p:sp>
      <p:sp>
        <p:nvSpPr>
          <p:cNvPr id="179" name="Google Shape;179;p19"/>
          <p:cNvSpPr txBox="1"/>
          <p:nvPr/>
        </p:nvSpPr>
        <p:spPr>
          <a:xfrm>
            <a:off x="571500" y="3367087"/>
            <a:ext cx="1047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0B981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▹</a:t>
            </a:r>
            <a:endParaRPr/>
          </a:p>
        </p:txBody>
      </p:sp>
      <p:sp>
        <p:nvSpPr>
          <p:cNvPr id="180" name="Google Shape;180;p19"/>
          <p:cNvSpPr txBox="1"/>
          <p:nvPr/>
        </p:nvSpPr>
        <p:spPr>
          <a:xfrm>
            <a:off x="571500" y="4214812"/>
            <a:ext cx="1047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0B981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▹</a:t>
            </a:r>
            <a:endParaRPr/>
          </a:p>
        </p:txBody>
      </p:sp>
      <p:sp>
        <p:nvSpPr>
          <p:cNvPr id="181" name="Google Shape;181;p19"/>
          <p:cNvSpPr txBox="1"/>
          <p:nvPr/>
        </p:nvSpPr>
        <p:spPr>
          <a:xfrm>
            <a:off x="571500" y="571500"/>
            <a:ext cx="11601450" cy="657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125" u="none" cap="none" strike="noStrike">
                <a:solidFill>
                  <a:srgbClr val="10B981"/>
                </a:solidFill>
                <a:latin typeface="Outfit"/>
                <a:ea typeface="Outfit"/>
                <a:cs typeface="Outfit"/>
                <a:sym typeface="Outfit"/>
              </a:rPr>
              <a:t>Control de Accesos - Lector Web</a:t>
            </a:r>
            <a:endParaRPr/>
          </a:p>
        </p:txBody>
      </p:sp>
      <p:pic>
        <p:nvPicPr>
          <p:cNvPr id="182" name="Picture 181" descr="05-qr-we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4125" y="2106842"/>
            <a:ext cx="5286375" cy="281576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827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6" name="Google Shape;186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7" name="Google Shape;187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762000"/>
            <a:ext cx="4953000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0"/>
          <p:cNvSpPr txBox="1"/>
          <p:nvPr/>
        </p:nvSpPr>
        <p:spPr>
          <a:xfrm>
            <a:off x="571500" y="1314450"/>
            <a:ext cx="5200650" cy="657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125" u="none" cap="none" strike="noStrike">
                <a:solidFill>
                  <a:srgbClr val="10B981"/>
                </a:solidFill>
                <a:latin typeface="Outfit"/>
                <a:ea typeface="Outfit"/>
                <a:cs typeface="Outfit"/>
                <a:sym typeface="Outfit"/>
              </a:rPr>
              <a:t>App Nativa - Asistente de Entrenamientos</a:t>
            </a:r>
            <a:endParaRPr/>
          </a:p>
        </p:txBody>
      </p:sp>
      <p:sp>
        <p:nvSpPr>
          <p:cNvPr id="190" name="Google Shape;190;p20"/>
          <p:cNvSpPr txBox="1"/>
          <p:nvPr/>
        </p:nvSpPr>
        <p:spPr>
          <a:xfrm>
            <a:off x="571500" y="2352675"/>
            <a:ext cx="4953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Aplicación Android nativa desarrollada en Kotlin utilizando Jetpack Compose para un rendimiento óptimo.
Integración de chat conversacional con Inteligencia Artificial (Groq / Llama 3) para generar rutinas personalizadas.</a:t>
            </a:r>
            <a:endParaRPr/>
          </a:p>
        </p:txBody>
      </p:sp>
      <p:sp>
        <p:nvSpPr>
          <p:cNvPr id="191" name="Google Shape;191;p20"/>
          <p:cNvSpPr/>
          <p:nvPr/>
        </p:nvSpPr>
        <p:spPr>
          <a:xfrm>
            <a:off x="571500" y="3743325"/>
            <a:ext cx="4953000" cy="98107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20"/>
          <p:cNvSpPr txBox="1"/>
          <p:nvPr/>
        </p:nvSpPr>
        <p:spPr>
          <a:xfrm>
            <a:off x="857250" y="3933825"/>
            <a:ext cx="4381500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 u="none" cap="none" strike="noStrike">
                <a:solidFill>
                  <a:srgbClr val="000000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Los entrenamientos generados se guardan directamente en el perfil del usuario.</a:t>
            </a:r>
            <a:endParaRPr/>
          </a:p>
        </p:txBody>
      </p:sp>
      <p:sp>
        <p:nvSpPr>
          <p:cNvPr id="193" name="Google Shape;193;p20"/>
          <p:cNvSpPr/>
          <p:nvPr/>
        </p:nvSpPr>
        <p:spPr>
          <a:xfrm>
            <a:off x="571500" y="3743325"/>
            <a:ext cx="38100" cy="98107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4" name="Picture 193" descr="06-ai-chat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13676" y="0"/>
            <a:ext cx="4460647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827"/>
        </a:solidFill>
      </p:bgPr>
    </p:bg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98" name="Google Shape;198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0" name="Google Shape;200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34125" y="1966912"/>
            <a:ext cx="2257425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21"/>
          <p:cNvSpPr txBox="1"/>
          <p:nvPr/>
        </p:nvSpPr>
        <p:spPr>
          <a:xfrm>
            <a:off x="6667500" y="2519362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Cuadro de mando analítico en Power BI Premium alimentado por un ETL en Python.</a:t>
            </a:r>
            <a:r>
              <a:rPr b="0" i="0" lang="en-US" sz="1500" u="none" cap="none" strike="noStrike">
                <a:solidFill>
                  <a:srgbClr val="D1D5D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/>
            </a: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/>
            </a:r>
            <a:endParaRPr/>
          </a:p>
        </p:txBody>
      </p:sp>
      <p:sp>
        <p:nvSpPr>
          <p:cNvPr id="203" name="Google Shape;203;p21"/>
          <p:cNvSpPr txBox="1"/>
          <p:nvPr/>
        </p:nvSpPr>
        <p:spPr>
          <a:xfrm>
            <a:off x="6667500" y="3367087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Monitoreo avanzado de ingresos mensuales, distribución de planes y suscripciones activas.</a:t>
            </a:r>
            <a:r>
              <a:rPr b="0" i="0" lang="en-US" sz="1500" u="none" cap="none" strike="noStrike">
                <a:solidFill>
                  <a:srgbClr val="D1D5D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/>
            </a: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/>
            </a:r>
            <a:endParaRPr/>
          </a:p>
        </p:txBody>
      </p:sp>
      <p:sp>
        <p:nvSpPr>
          <p:cNvPr id="204" name="Google Shape;204;p21"/>
          <p:cNvSpPr txBox="1"/>
          <p:nvPr/>
        </p:nvSpPr>
        <p:spPr>
          <a:xfrm>
            <a:off x="6667500" y="4214812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Visualización de tendencias de negocio para la toma de decisiones estratégicas.</a:t>
            </a:r>
            <a:endParaRPr/>
          </a:p>
        </p:txBody>
      </p:sp>
      <p:sp>
        <p:nvSpPr>
          <p:cNvPr id="205" name="Google Shape;205;p21"/>
          <p:cNvSpPr txBox="1"/>
          <p:nvPr/>
        </p:nvSpPr>
        <p:spPr>
          <a:xfrm>
            <a:off x="6334125" y="2519362"/>
            <a:ext cx="1047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0B981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▹</a:t>
            </a:r>
            <a:endParaRPr/>
          </a:p>
        </p:txBody>
      </p:sp>
      <p:sp>
        <p:nvSpPr>
          <p:cNvPr id="206" name="Google Shape;206;p21"/>
          <p:cNvSpPr txBox="1"/>
          <p:nvPr/>
        </p:nvSpPr>
        <p:spPr>
          <a:xfrm>
            <a:off x="6334125" y="3367087"/>
            <a:ext cx="1047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0B981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▹</a:t>
            </a:r>
            <a:endParaRPr/>
          </a:p>
        </p:txBody>
      </p:sp>
      <p:sp>
        <p:nvSpPr>
          <p:cNvPr id="207" name="Google Shape;207;p21"/>
          <p:cNvSpPr txBox="1"/>
          <p:nvPr/>
        </p:nvSpPr>
        <p:spPr>
          <a:xfrm>
            <a:off x="6334125" y="4214812"/>
            <a:ext cx="1047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0B981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▹</a:t>
            </a:r>
            <a:endParaRPr/>
          </a:p>
        </p:txBody>
      </p:sp>
      <p:sp>
        <p:nvSpPr>
          <p:cNvPr id="208" name="Google Shape;208;p21"/>
          <p:cNvSpPr txBox="1"/>
          <p:nvPr/>
        </p:nvSpPr>
        <p:spPr>
          <a:xfrm>
            <a:off x="571500" y="571500"/>
            <a:ext cx="11601450" cy="657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125" u="none" cap="none" strike="noStrike">
                <a:solidFill>
                  <a:srgbClr val="10B981"/>
                </a:solidFill>
                <a:latin typeface="Outfit"/>
                <a:ea typeface="Outfit"/>
                <a:cs typeface="Outfit"/>
                <a:sym typeface="Outfit"/>
              </a:rPr>
              <a:t>Business Intelligence - Panel Financiero</a:t>
            </a:r>
            <a:endParaRPr/>
          </a:p>
        </p:txBody>
      </p:sp>
      <p:pic>
        <p:nvPicPr>
          <p:cNvPr id="209" name="Picture 208" descr="07-powerbi-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2022486"/>
            <a:ext cx="5286375" cy="298447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827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13" name="Google Shape;213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5" name="Google Shape;215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1966912"/>
            <a:ext cx="1962150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22"/>
          <p:cNvSpPr txBox="1"/>
          <p:nvPr/>
        </p:nvSpPr>
        <p:spPr>
          <a:xfrm>
            <a:off x="904875" y="2519362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Clientes descentralizados desarrollados en </a:t>
            </a:r>
            <a:r>
              <a:rPr b="0" i="0" lang="en-US" sz="1500" u="none" cap="none" strike="noStrike">
                <a:solidFill>
                  <a:srgbClr val="D1D5D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Angular</a:t>
            </a: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 (Web) y </a:t>
            </a:r>
            <a:r>
              <a:rPr b="0" i="0" lang="en-US" sz="1500" u="none" cap="none" strike="noStrike">
                <a:solidFill>
                  <a:srgbClr val="D1D5D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Kotlin</a:t>
            </a: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 (Móvil).</a:t>
            </a:r>
            <a:endParaRPr/>
          </a:p>
        </p:txBody>
      </p:sp>
      <p:sp>
        <p:nvSpPr>
          <p:cNvPr id="217" name="Google Shape;217;p22"/>
          <p:cNvSpPr txBox="1"/>
          <p:nvPr/>
        </p:nvSpPr>
        <p:spPr>
          <a:xfrm>
            <a:off x="904875" y="3367087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Backend gestionado (BaaS) operando sobre la infraestructura en la nube de </a:t>
            </a:r>
            <a:r>
              <a:rPr b="0" i="0" lang="en-US" sz="1500" u="none" cap="none" strike="noStrike">
                <a:solidFill>
                  <a:srgbClr val="D1D5D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Supabase</a:t>
            </a: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.</a:t>
            </a:r>
            <a:endParaRPr/>
          </a:p>
        </p:txBody>
      </p:sp>
      <p:sp>
        <p:nvSpPr>
          <p:cNvPr id="218" name="Google Shape;218;p22"/>
          <p:cNvSpPr txBox="1"/>
          <p:nvPr/>
        </p:nvSpPr>
        <p:spPr>
          <a:xfrm>
            <a:off x="904875" y="4214812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Resolución de peticiones complejas mediante Edge Functions (</a:t>
            </a:r>
            <a:r>
              <a:rPr b="0" i="0" lang="en-US" sz="1500" u="none" cap="none" strike="noStrike">
                <a:solidFill>
                  <a:srgbClr val="D1D5D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Deno / TypeScript</a:t>
            </a: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).</a:t>
            </a:r>
            <a:endParaRPr/>
          </a:p>
        </p:txBody>
      </p:sp>
      <p:sp>
        <p:nvSpPr>
          <p:cNvPr id="220" name="Google Shape;220;p22"/>
          <p:cNvSpPr txBox="1"/>
          <p:nvPr/>
        </p:nvSpPr>
        <p:spPr>
          <a:xfrm>
            <a:off x="571500" y="2519362"/>
            <a:ext cx="1047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0B981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▹</a:t>
            </a:r>
            <a:endParaRPr/>
          </a:p>
        </p:txBody>
      </p:sp>
      <p:sp>
        <p:nvSpPr>
          <p:cNvPr id="221" name="Google Shape;221;p22"/>
          <p:cNvSpPr txBox="1"/>
          <p:nvPr/>
        </p:nvSpPr>
        <p:spPr>
          <a:xfrm>
            <a:off x="571500" y="3367087"/>
            <a:ext cx="1047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0B981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▹</a:t>
            </a:r>
            <a:endParaRPr/>
          </a:p>
        </p:txBody>
      </p:sp>
      <p:sp>
        <p:nvSpPr>
          <p:cNvPr id="222" name="Google Shape;222;p22"/>
          <p:cNvSpPr txBox="1"/>
          <p:nvPr/>
        </p:nvSpPr>
        <p:spPr>
          <a:xfrm>
            <a:off x="571500" y="4214812"/>
            <a:ext cx="1047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0B981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▹</a:t>
            </a:r>
            <a:endParaRPr/>
          </a:p>
        </p:txBody>
      </p:sp>
      <p:sp>
        <p:nvSpPr>
          <p:cNvPr id="223" name="Google Shape;223;p22"/>
          <p:cNvSpPr txBox="1"/>
          <p:nvPr/>
        </p:nvSpPr>
        <p:spPr>
          <a:xfrm>
            <a:off x="571500" y="571500"/>
            <a:ext cx="11601450" cy="657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125" u="none" cap="none" strike="noStrike">
                <a:solidFill>
                  <a:srgbClr val="10B981"/>
                </a:solidFill>
                <a:latin typeface="Outfit"/>
                <a:ea typeface="Outfit"/>
                <a:cs typeface="Outfit"/>
                <a:sym typeface="Outfit"/>
              </a:rPr>
              <a:t>Arquitectura Física</a:t>
            </a:r>
            <a:endParaRPr/>
          </a:p>
        </p:txBody>
      </p:sp>
      <p:pic>
        <p:nvPicPr>
          <p:cNvPr id="224" name="Picture 223" descr="08-arquitectur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72312" y="1609725"/>
            <a:ext cx="38100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827"/>
        </a:solidFill>
      </p:bgPr>
    </p:bg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28" name="Google Shape;22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23"/>
          <p:cNvSpPr txBox="1"/>
          <p:nvPr/>
        </p:nvSpPr>
        <p:spPr>
          <a:xfrm>
            <a:off x="571500" y="5553075"/>
            <a:ext cx="11049000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Análisis basado en el Lean Canvas. Proyección de escalabilidad mediante cloud computing para mantener costes operativos controlados.</a:t>
            </a:r>
            <a:endParaRPr/>
          </a:p>
        </p:txBody>
      </p:sp>
      <p:sp>
        <p:nvSpPr>
          <p:cNvPr id="245" name="Google Shape;245;p23"/>
          <p:cNvSpPr txBox="1"/>
          <p:nvPr/>
        </p:nvSpPr>
        <p:spPr>
          <a:xfrm>
            <a:off x="571500" y="571500"/>
            <a:ext cx="11601450" cy="657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125" u="none" cap="none" strike="noStrike">
                <a:solidFill>
                  <a:srgbClr val="10B981"/>
                </a:solidFill>
                <a:latin typeface="Outfit"/>
                <a:ea typeface="Outfit"/>
                <a:cs typeface="Outfit"/>
                <a:sym typeface="Outfit"/>
              </a:rPr>
              <a:t>Viabilidad Económica</a:t>
            </a:r>
            <a:endParaRPr/>
          </a:p>
        </p:txBody>
      </p:sp>
      <p:pic>
        <p:nvPicPr>
          <p:cNvPr id="246" name="Picture 245" descr="09-lean-canva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5504" y="1609344"/>
            <a:ext cx="6908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827"/>
        </a:solidFill>
      </p:bgPr>
    </p:bg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50" name="Google Shape;250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1" name="Google Shape;251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609725"/>
            <a:ext cx="3429000" cy="340221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2" name="Google Shape;252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81500" y="1609725"/>
            <a:ext cx="3429000" cy="340221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3" name="Google Shape;253;p2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91500" y="1609725"/>
            <a:ext cx="3429000" cy="340221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4" name="Google Shape;254;p2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905000" y="2000250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24"/>
          <p:cNvSpPr txBox="1"/>
          <p:nvPr/>
        </p:nvSpPr>
        <p:spPr>
          <a:xfrm>
            <a:off x="880824" y="3000375"/>
            <a:ext cx="2810351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6B6D4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Metodología Scrum</a:t>
            </a:r>
            <a:endParaRPr/>
          </a:p>
        </p:txBody>
      </p:sp>
      <p:sp>
        <p:nvSpPr>
          <p:cNvPr id="256" name="Google Shape;256;p24"/>
          <p:cNvSpPr txBox="1"/>
          <p:nvPr/>
        </p:nvSpPr>
        <p:spPr>
          <a:xfrm>
            <a:off x="866775" y="3524250"/>
            <a:ext cx="2838450" cy="109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Iteraciones de desarrollo estructuradas en Sprints de dos semanas, garantizando entregas incrementales de valor.</a:t>
            </a:r>
            <a:endParaRPr/>
          </a:p>
        </p:txBody>
      </p:sp>
      <p:pic>
        <p:nvPicPr>
          <p:cNvPr descr="image.png" id="257" name="Google Shape;257;p2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715000" y="2000250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24"/>
          <p:cNvSpPr txBox="1"/>
          <p:nvPr/>
        </p:nvSpPr>
        <p:spPr>
          <a:xfrm>
            <a:off x="5240893" y="3000375"/>
            <a:ext cx="1710213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6B6D4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Tablero Jira</a:t>
            </a:r>
            <a:endParaRPr/>
          </a:p>
        </p:txBody>
      </p:sp>
      <p:sp>
        <p:nvSpPr>
          <p:cNvPr id="259" name="Google Shape;259;p24"/>
          <p:cNvSpPr txBox="1"/>
          <p:nvPr/>
        </p:nvSpPr>
        <p:spPr>
          <a:xfrm>
            <a:off x="4676775" y="3524250"/>
            <a:ext cx="2838450" cy="109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Organización milimétrica de tareas, asignación de responsabilidades individuales y trazabilidad del proyecto.</a:t>
            </a:r>
            <a:endParaRPr/>
          </a:p>
        </p:txBody>
      </p:sp>
      <p:pic>
        <p:nvPicPr>
          <p:cNvPr descr="image.png" id="260" name="Google Shape;260;p2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525000" y="2000250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24"/>
          <p:cNvSpPr txBox="1"/>
          <p:nvPr/>
        </p:nvSpPr>
        <p:spPr>
          <a:xfrm>
            <a:off x="9005887" y="3000375"/>
            <a:ext cx="1800225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6B6D4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GitHub Flow</a:t>
            </a:r>
            <a:endParaRPr/>
          </a:p>
        </p:txBody>
      </p:sp>
      <p:sp>
        <p:nvSpPr>
          <p:cNvPr id="262" name="Google Shape;262;p24"/>
          <p:cNvSpPr txBox="1"/>
          <p:nvPr/>
        </p:nvSpPr>
        <p:spPr>
          <a:xfrm>
            <a:off x="8486775" y="3524250"/>
            <a:ext cx="2838450" cy="109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Coordinación del código fuente mediante Pull Requests, evitando bloqueos y facilitando la integración continua.</a:t>
            </a:r>
            <a:endParaRPr/>
          </a:p>
        </p:txBody>
      </p:sp>
      <p:pic>
        <p:nvPicPr>
          <p:cNvPr descr="image.png" id="263" name="Google Shape;263;p24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2133600" y="2228850"/>
            <a:ext cx="3048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4" name="Google Shape;264;p24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5948362" y="2228850"/>
            <a:ext cx="295275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5" name="Google Shape;265;p24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9758362" y="2228850"/>
            <a:ext cx="295275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24"/>
          <p:cNvSpPr txBox="1"/>
          <p:nvPr/>
        </p:nvSpPr>
        <p:spPr>
          <a:xfrm>
            <a:off x="571500" y="571500"/>
            <a:ext cx="11601450" cy="657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125" u="none" cap="none" strike="noStrike">
                <a:solidFill>
                  <a:srgbClr val="10B981"/>
                </a:solidFill>
                <a:latin typeface="Outfit"/>
                <a:ea typeface="Outfit"/>
                <a:cs typeface="Outfit"/>
                <a:sym typeface="Outfit"/>
              </a:rPr>
              <a:t>Gestión Ágil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827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71" name="Google Shape;27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3" name="Google Shape;273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1966912"/>
            <a:ext cx="1962150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25"/>
          <p:cNvSpPr txBox="1"/>
          <p:nvPr/>
        </p:nvSpPr>
        <p:spPr>
          <a:xfrm>
            <a:off x="904875" y="2519362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Consola de Supabase protegida mediante políticas </a:t>
            </a:r>
            <a:r>
              <a:rPr b="0" i="0" lang="en-US" sz="1500" u="none" cap="none" strike="noStrike">
                <a:solidFill>
                  <a:srgbClr val="D1D5D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RLS (Row Level Security)</a:t>
            </a: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.</a:t>
            </a:r>
            <a:endParaRPr/>
          </a:p>
        </p:txBody>
      </p:sp>
      <p:sp>
        <p:nvSpPr>
          <p:cNvPr id="275" name="Google Shape;275;p25"/>
          <p:cNvSpPr txBox="1"/>
          <p:nvPr/>
        </p:nvSpPr>
        <p:spPr>
          <a:xfrm>
            <a:off x="904875" y="3367087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Aislamiento criptográfico de registros para asegurar la privacidad del cliente.</a:t>
            </a:r>
            <a:endParaRPr/>
          </a:p>
        </p:txBody>
      </p:sp>
      <p:sp>
        <p:nvSpPr>
          <p:cNvPr id="276" name="Google Shape;276;p25"/>
          <p:cNvSpPr txBox="1"/>
          <p:nvPr/>
        </p:nvSpPr>
        <p:spPr>
          <a:xfrm>
            <a:off x="904875" y="4214812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Garantía técnica de que cada usuario únicamente puede leer y mutar su propia información.</a:t>
            </a:r>
            <a:endParaRPr/>
          </a:p>
        </p:txBody>
      </p:sp>
      <p:sp>
        <p:nvSpPr>
          <p:cNvPr id="278" name="Google Shape;278;p25"/>
          <p:cNvSpPr txBox="1"/>
          <p:nvPr/>
        </p:nvSpPr>
        <p:spPr>
          <a:xfrm>
            <a:off x="571500" y="2519362"/>
            <a:ext cx="1047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0B981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▹</a:t>
            </a:r>
            <a:endParaRPr/>
          </a:p>
        </p:txBody>
      </p:sp>
      <p:sp>
        <p:nvSpPr>
          <p:cNvPr id="279" name="Google Shape;279;p25"/>
          <p:cNvSpPr txBox="1"/>
          <p:nvPr/>
        </p:nvSpPr>
        <p:spPr>
          <a:xfrm>
            <a:off x="571500" y="3367087"/>
            <a:ext cx="1047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0B981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▹</a:t>
            </a:r>
            <a:endParaRPr/>
          </a:p>
        </p:txBody>
      </p:sp>
      <p:sp>
        <p:nvSpPr>
          <p:cNvPr id="280" name="Google Shape;280;p25"/>
          <p:cNvSpPr txBox="1"/>
          <p:nvPr/>
        </p:nvSpPr>
        <p:spPr>
          <a:xfrm>
            <a:off x="571500" y="4214812"/>
            <a:ext cx="1047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0B981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▹</a:t>
            </a:r>
            <a:endParaRPr/>
          </a:p>
        </p:txBody>
      </p:sp>
      <p:sp>
        <p:nvSpPr>
          <p:cNvPr id="281" name="Google Shape;281;p25"/>
          <p:cNvSpPr txBox="1"/>
          <p:nvPr/>
        </p:nvSpPr>
        <p:spPr>
          <a:xfrm>
            <a:off x="571500" y="571500"/>
            <a:ext cx="11601450" cy="657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125" u="none" cap="none" strike="noStrike">
                <a:solidFill>
                  <a:srgbClr val="10B981"/>
                </a:solidFill>
                <a:latin typeface="Outfit"/>
                <a:ea typeface="Outfit"/>
                <a:cs typeface="Outfit"/>
                <a:sym typeface="Outfit"/>
              </a:rPr>
              <a:t>Seguridad de Datos</a:t>
            </a:r>
            <a:endParaRPr/>
          </a:p>
        </p:txBody>
      </p:sp>
      <p:pic>
        <p:nvPicPr>
          <p:cNvPr id="282" name="Picture 281" descr="11-supab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4125" y="1804427"/>
            <a:ext cx="5286375" cy="342059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827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86" name="Google Shape;286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7" name="Google Shape;287;p26"/>
          <p:cNvSpPr txBox="1"/>
          <p:nvPr/>
        </p:nvSpPr>
        <p:spPr>
          <a:xfrm>
            <a:off x="2060495" y="2335269"/>
            <a:ext cx="80709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10B981"/>
                </a:solidFill>
                <a:latin typeface="Outfit"/>
                <a:ea typeface="Outfit"/>
                <a:cs typeface="Outfit"/>
                <a:sym typeface="Outfit"/>
              </a:rPr>
              <a:t>Fin de la Presentación</a:t>
            </a:r>
            <a:endParaRPr/>
          </a:p>
        </p:txBody>
      </p:sp>
      <p:sp>
        <p:nvSpPr>
          <p:cNvPr id="288" name="Google Shape;288;p26"/>
          <p:cNvSpPr txBox="1"/>
          <p:nvPr/>
        </p:nvSpPr>
        <p:spPr>
          <a:xfrm>
            <a:off x="3238500" y="3716394"/>
            <a:ext cx="5715000" cy="11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Meta-Force es una plataforma completa, robusta y completamente funcional. Quedamos a vuestra disposición para cualquier duda.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image.png" id="104" name="Google Shape;104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6" name="Google Shape;106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1695450"/>
            <a:ext cx="2047875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5"/>
          <p:cNvSpPr txBox="1"/>
          <p:nvPr/>
        </p:nvSpPr>
        <p:spPr>
          <a:xfrm>
            <a:off x="904875" y="224790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Administración multi-sucursal con configuración independiente de aforos y recursos.</a:t>
            </a:r>
            <a:r>
              <a:rPr b="0" i="0" lang="en-US" sz="1500" u="none" cap="none" strike="noStrike">
                <a:solidFill>
                  <a:srgbClr val="D1D5D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/>
            </a: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/>
            </a:r>
            <a:endParaRPr/>
          </a:p>
        </p:txBody>
      </p:sp>
      <p:sp>
        <p:nvSpPr>
          <p:cNvPr id="108" name="Google Shape;108;p15"/>
          <p:cNvSpPr txBox="1"/>
          <p:nvPr/>
        </p:nvSpPr>
        <p:spPr>
          <a:xfrm>
            <a:off x="904875" y="2790825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Asignación dinámica de instructores, actividades y control de capacidades en tiempo real.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904875" y="3638550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Visualización del equipamiento, tipos de máquinas y estado de mantenimiento.</a:t>
            </a:r>
            <a:endParaRPr/>
          </a:p>
        </p:txBody>
      </p:sp>
      <p:sp>
        <p:nvSpPr>
          <p:cNvPr id="110" name="Google Shape;110;p15"/>
          <p:cNvSpPr txBox="1"/>
          <p:nvPr/>
        </p:nvSpPr>
        <p:spPr>
          <a:xfrm>
            <a:off x="904875" y="4486275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Calendarios interactivos de horarios con validación y avisos de conflictos.</a:t>
            </a:r>
            <a:endParaRPr/>
          </a:p>
        </p:txBody>
      </p:sp>
      <p:sp>
        <p:nvSpPr>
          <p:cNvPr id="112" name="Google Shape;112;p15"/>
          <p:cNvSpPr txBox="1"/>
          <p:nvPr/>
        </p:nvSpPr>
        <p:spPr>
          <a:xfrm>
            <a:off x="571500" y="2247900"/>
            <a:ext cx="1047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0B981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▹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571500" y="2790825"/>
            <a:ext cx="1047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0B981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▹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571500" y="3638550"/>
            <a:ext cx="1047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0B981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▹</a:t>
            </a:r>
            <a:endParaRPr/>
          </a:p>
        </p:txBody>
      </p:sp>
      <p:sp>
        <p:nvSpPr>
          <p:cNvPr id="115" name="Google Shape;115;p15"/>
          <p:cNvSpPr txBox="1"/>
          <p:nvPr/>
        </p:nvSpPr>
        <p:spPr>
          <a:xfrm>
            <a:off x="571500" y="4486275"/>
            <a:ext cx="1047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0B981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▹</a:t>
            </a:r>
            <a:endParaRPr/>
          </a:p>
        </p:txBody>
      </p:sp>
      <p:sp>
        <p:nvSpPr>
          <p:cNvPr id="116" name="Google Shape;116;p15"/>
          <p:cNvSpPr txBox="1"/>
          <p:nvPr/>
        </p:nvSpPr>
        <p:spPr>
          <a:xfrm>
            <a:off x="571500" y="571500"/>
            <a:ext cx="11601450" cy="657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125" u="none" cap="none" strike="noStrike">
                <a:solidFill>
                  <a:srgbClr val="10B981"/>
                </a:solidFill>
                <a:latin typeface="Outfit"/>
                <a:ea typeface="Outfit"/>
                <a:cs typeface="Outfit"/>
                <a:sym typeface="Outfit"/>
              </a:rPr>
              <a:t>Gestión de Centros</a:t>
            </a:r>
            <a:endParaRPr/>
          </a:p>
        </p:txBody>
      </p:sp>
      <p:pic>
        <p:nvPicPr>
          <p:cNvPr id="117" name="Picture 116" descr="03-centr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4125" y="1695182"/>
            <a:ext cx="5286375" cy="363908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image.png" id="104" name="Google Shape;104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6" name="Google Shape;106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1695450"/>
            <a:ext cx="2047875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5"/>
          <p:cNvSpPr txBox="1"/>
          <p:nvPr/>
        </p:nvSpPr>
        <p:spPr>
          <a:xfrm>
            <a:off x="904875" y="224790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Portal dedicado donde los clientes pueden explorar y adquirir planes de suscripción (Basic, Standard, Premium).</a:t>
            </a:r>
            <a:r>
              <a:rPr b="0" i="0" lang="en-US" sz="1500" u="none" cap="none" strike="noStrike">
                <a:solidFill>
                  <a:srgbClr val="D1D5D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/>
            </a: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/>
            </a:r>
            <a:endParaRPr/>
          </a:p>
        </p:txBody>
      </p:sp>
      <p:sp>
        <p:nvSpPr>
          <p:cNvPr id="108" name="Google Shape;108;p15"/>
          <p:cNvSpPr txBox="1"/>
          <p:nvPr/>
        </p:nvSpPr>
        <p:spPr>
          <a:xfrm>
            <a:off x="904875" y="2790825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Pasarela simulada integrada con numeración fiscal estable y cálculo dinámico de periodos.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904875" y="3638550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Generación automatizada de facturas en PDF almacenadas de forma segura en Supabase Storage.</a:t>
            </a:r>
            <a:endParaRPr/>
          </a:p>
        </p:txBody>
      </p:sp>
      <p:sp>
        <p:nvSpPr>
          <p:cNvPr id="110" name="Google Shape;110;p15"/>
          <p:cNvSpPr txBox="1"/>
          <p:nvPr/>
        </p:nvSpPr>
        <p:spPr>
          <a:xfrm>
            <a:off x="904875" y="4486275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Envío automático de notificaciones de pago y facturas por correo electrónico mediante Resend.</a:t>
            </a:r>
            <a:endParaRPr/>
          </a:p>
        </p:txBody>
      </p:sp>
      <p:sp>
        <p:nvSpPr>
          <p:cNvPr id="112" name="Google Shape;112;p15"/>
          <p:cNvSpPr txBox="1"/>
          <p:nvPr/>
        </p:nvSpPr>
        <p:spPr>
          <a:xfrm>
            <a:off x="571500" y="2247900"/>
            <a:ext cx="1047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0B981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▹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571500" y="2790825"/>
            <a:ext cx="1047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0B981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▹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571500" y="3638550"/>
            <a:ext cx="1047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0B981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▹</a:t>
            </a:r>
            <a:endParaRPr/>
          </a:p>
        </p:txBody>
      </p:sp>
      <p:sp>
        <p:nvSpPr>
          <p:cNvPr id="115" name="Google Shape;115;p15"/>
          <p:cNvSpPr txBox="1"/>
          <p:nvPr/>
        </p:nvSpPr>
        <p:spPr>
          <a:xfrm>
            <a:off x="571500" y="4486275"/>
            <a:ext cx="1047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0B981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▹</a:t>
            </a:r>
            <a:endParaRPr/>
          </a:p>
        </p:txBody>
      </p:sp>
      <p:sp>
        <p:nvSpPr>
          <p:cNvPr id="116" name="Google Shape;116;p15"/>
          <p:cNvSpPr txBox="1"/>
          <p:nvPr/>
        </p:nvSpPr>
        <p:spPr>
          <a:xfrm>
            <a:off x="571500" y="571500"/>
            <a:ext cx="11601450" cy="657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125" u="none" cap="none" strike="noStrike">
                <a:solidFill>
                  <a:srgbClr val="10B981"/>
                </a:solidFill>
                <a:latin typeface="Outfit"/>
                <a:ea typeface="Outfit"/>
                <a:cs typeface="Outfit"/>
                <a:sym typeface="Outfit"/>
              </a:rPr>
              <a:t>Suscripciones y Facturación</a:t>
            </a:r>
            <a:endParaRPr/>
          </a:p>
        </p:txBody>
      </p:sp>
      <p:pic>
        <p:nvPicPr>
          <p:cNvPr id="117" name="Picture 116" descr="04-suscrip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6116" y="1609725"/>
            <a:ext cx="5242393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image.png" id="171" name="Google Shape;171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3" name="Google Shape;173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1966912"/>
            <a:ext cx="2257425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19"/>
          <p:cNvSpPr txBox="1"/>
          <p:nvPr/>
        </p:nvSpPr>
        <p:spPr>
          <a:xfrm>
            <a:off x="904875" y="2519362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Generación de códigos QR temporales y encriptados de forma segura desde la app móvil.</a:t>
            </a:r>
            <a:endParaRPr/>
          </a:p>
        </p:txBody>
      </p:sp>
      <p:sp>
        <p:nvSpPr>
          <p:cNvPr id="175" name="Google Shape;175;p19"/>
          <p:cNvSpPr txBox="1"/>
          <p:nvPr/>
        </p:nvSpPr>
        <p:spPr>
          <a:xfrm>
            <a:off x="904875" y="3367087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Los códigos QR expiran en segundos y contienen firmas digitales validadas por el backend.</a:t>
            </a:r>
            <a:endParaRPr/>
          </a:p>
        </p:txBody>
      </p:sp>
      <p:sp>
        <p:nvSpPr>
          <p:cNvPr id="176" name="Google Shape;176;p19"/>
          <p:cNvSpPr txBox="1"/>
          <p:nvPr/>
        </p:nvSpPr>
        <p:spPr>
          <a:xfrm>
            <a:off x="904875" y="4214812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Garantiza un control de acceso físico ágil y previene la suplantación de identidad.</a:t>
            </a:r>
            <a:endParaRPr/>
          </a:p>
        </p:txBody>
      </p:sp>
      <p:sp>
        <p:nvSpPr>
          <p:cNvPr id="178" name="Google Shape;178;p19"/>
          <p:cNvSpPr txBox="1"/>
          <p:nvPr/>
        </p:nvSpPr>
        <p:spPr>
          <a:xfrm>
            <a:off x="571500" y="2519362"/>
            <a:ext cx="1047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0B981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▹</a:t>
            </a:r>
            <a:endParaRPr/>
          </a:p>
        </p:txBody>
      </p:sp>
      <p:sp>
        <p:nvSpPr>
          <p:cNvPr id="179" name="Google Shape;179;p19"/>
          <p:cNvSpPr txBox="1"/>
          <p:nvPr/>
        </p:nvSpPr>
        <p:spPr>
          <a:xfrm>
            <a:off x="571500" y="3367087"/>
            <a:ext cx="1047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0B981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▹</a:t>
            </a:r>
            <a:endParaRPr/>
          </a:p>
        </p:txBody>
      </p:sp>
      <p:sp>
        <p:nvSpPr>
          <p:cNvPr id="180" name="Google Shape;180;p19"/>
          <p:cNvSpPr txBox="1"/>
          <p:nvPr/>
        </p:nvSpPr>
        <p:spPr>
          <a:xfrm>
            <a:off x="571500" y="4214812"/>
            <a:ext cx="1047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0B981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▹</a:t>
            </a:r>
            <a:endParaRPr/>
          </a:p>
        </p:txBody>
      </p:sp>
      <p:sp>
        <p:nvSpPr>
          <p:cNvPr id="181" name="Google Shape;181;p19"/>
          <p:cNvSpPr txBox="1"/>
          <p:nvPr/>
        </p:nvSpPr>
        <p:spPr>
          <a:xfrm>
            <a:off x="571500" y="571500"/>
            <a:ext cx="11601450" cy="657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125" u="none" cap="none" strike="noStrike">
                <a:solidFill>
                  <a:srgbClr val="10B981"/>
                </a:solidFill>
                <a:latin typeface="Outfit"/>
                <a:ea typeface="Outfit"/>
                <a:cs typeface="Outfit"/>
                <a:sym typeface="Outfit"/>
              </a:rPr>
              <a:t>Control de Accesos - App Cliente</a:t>
            </a:r>
            <a:endParaRPr/>
          </a:p>
        </p:txBody>
      </p:sp>
      <p:pic>
        <p:nvPicPr>
          <p:cNvPr id="182" name="Picture 181" descr="05-qr-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5096" y="1609725"/>
            <a:ext cx="1824433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image.png" id="186" name="Google Shape;186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7" name="Google Shape;187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762000"/>
            <a:ext cx="4953000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0"/>
          <p:cNvSpPr txBox="1"/>
          <p:nvPr/>
        </p:nvSpPr>
        <p:spPr>
          <a:xfrm>
            <a:off x="571500" y="1314450"/>
            <a:ext cx="5200650" cy="657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125" u="none" cap="none" strike="noStrike">
                <a:solidFill>
                  <a:srgbClr val="10B981"/>
                </a:solidFill>
                <a:latin typeface="Outfit"/>
                <a:ea typeface="Outfit"/>
                <a:cs typeface="Outfit"/>
                <a:sym typeface="Outfit"/>
              </a:rPr>
              <a:t>App Nativa - Asistente de Nutrición</a:t>
            </a:r>
            <a:endParaRPr/>
          </a:p>
        </p:txBody>
      </p:sp>
      <p:sp>
        <p:nvSpPr>
          <p:cNvPr id="190" name="Google Shape;190;p20"/>
          <p:cNvSpPr txBox="1"/>
          <p:nvPr/>
        </p:nvSpPr>
        <p:spPr>
          <a:xfrm>
            <a:off x="571500" y="2352675"/>
            <a:ext cx="4953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Generación instantánea de dietas balanceadas e indicaciones nutricionales personalizadas.
Navegación interactiva, consistente y almacenamiento local de la sesión mediante DataStore.</a:t>
            </a:r>
            <a:endParaRPr/>
          </a:p>
        </p:txBody>
      </p:sp>
      <p:sp>
        <p:nvSpPr>
          <p:cNvPr id="191" name="Google Shape;191;p20"/>
          <p:cNvSpPr/>
          <p:nvPr/>
        </p:nvSpPr>
        <p:spPr>
          <a:xfrm>
            <a:off x="571500" y="3743325"/>
            <a:ext cx="4953000" cy="98107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20"/>
          <p:cNvSpPr txBox="1"/>
          <p:nvPr/>
        </p:nvSpPr>
        <p:spPr>
          <a:xfrm>
            <a:off x="857250" y="3933825"/>
            <a:ext cx="4381500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 u="none" cap="none" strike="noStrike">
                <a:solidFill>
                  <a:srgbClr val="000000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La IA analiza los requerimientos físicos del usuario para proponer el menú óptimo.</a:t>
            </a:r>
            <a:endParaRPr/>
          </a:p>
        </p:txBody>
      </p:sp>
      <p:sp>
        <p:nvSpPr>
          <p:cNvPr id="193" name="Google Shape;193;p20"/>
          <p:cNvSpPr/>
          <p:nvPr/>
        </p:nvSpPr>
        <p:spPr>
          <a:xfrm>
            <a:off x="571500" y="3743325"/>
            <a:ext cx="38100" cy="98107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4" name="Picture 193" descr="06-ai-chat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5974" y="0"/>
            <a:ext cx="3276051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image.png" id="198" name="Google Shape;198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0" name="Google Shape;200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34125" y="1966912"/>
            <a:ext cx="2257425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21"/>
          <p:cNvSpPr txBox="1"/>
          <p:nvPr/>
        </p:nvSpPr>
        <p:spPr>
          <a:xfrm>
            <a:off x="6667500" y="2519362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Análisis del comportamiento de los usuarios en los centros y evolución física general.</a:t>
            </a:r>
            <a:r>
              <a:rPr b="0" i="0" lang="en-US" sz="1500" u="none" cap="none" strike="noStrike">
                <a:solidFill>
                  <a:srgbClr val="D1D5D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/>
            </a: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/>
            </a:r>
            <a:endParaRPr/>
          </a:p>
        </p:txBody>
      </p:sp>
      <p:sp>
        <p:nvSpPr>
          <p:cNvPr id="203" name="Google Shape;203;p21"/>
          <p:cNvSpPr txBox="1"/>
          <p:nvPr/>
        </p:nvSpPr>
        <p:spPr>
          <a:xfrm>
            <a:off x="6667500" y="3367087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Visualización detallada de aforos por franjas horarias y de mayor concurrencia.</a:t>
            </a:r>
            <a:r>
              <a:rPr b="0" i="0" lang="en-US" sz="1500" u="none" cap="none" strike="noStrike">
                <a:solidFill>
                  <a:srgbClr val="D1D5D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/>
            </a: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/>
            </a:r>
            <a:endParaRPr/>
          </a:p>
        </p:txBody>
      </p:sp>
      <p:sp>
        <p:nvSpPr>
          <p:cNvPr id="204" name="Google Shape;204;p21"/>
          <p:cNvSpPr txBox="1"/>
          <p:nvPr/>
        </p:nvSpPr>
        <p:spPr>
          <a:xfrm>
            <a:off x="6667500" y="4214812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Ayuda a optimizar recursos, horarios de personal y planificación de clases dirigidas.</a:t>
            </a:r>
            <a:endParaRPr/>
          </a:p>
        </p:txBody>
      </p:sp>
      <p:sp>
        <p:nvSpPr>
          <p:cNvPr id="205" name="Google Shape;205;p21"/>
          <p:cNvSpPr txBox="1"/>
          <p:nvPr/>
        </p:nvSpPr>
        <p:spPr>
          <a:xfrm>
            <a:off x="6334125" y="2519362"/>
            <a:ext cx="1047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0B981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▹</a:t>
            </a:r>
            <a:endParaRPr/>
          </a:p>
        </p:txBody>
      </p:sp>
      <p:sp>
        <p:nvSpPr>
          <p:cNvPr id="206" name="Google Shape;206;p21"/>
          <p:cNvSpPr txBox="1"/>
          <p:nvPr/>
        </p:nvSpPr>
        <p:spPr>
          <a:xfrm>
            <a:off x="6334125" y="3367087"/>
            <a:ext cx="1047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0B981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▹</a:t>
            </a:r>
            <a:endParaRPr/>
          </a:p>
        </p:txBody>
      </p:sp>
      <p:sp>
        <p:nvSpPr>
          <p:cNvPr id="207" name="Google Shape;207;p21"/>
          <p:cNvSpPr txBox="1"/>
          <p:nvPr/>
        </p:nvSpPr>
        <p:spPr>
          <a:xfrm>
            <a:off x="6334125" y="4214812"/>
            <a:ext cx="1047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0B981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▹</a:t>
            </a:r>
            <a:endParaRPr/>
          </a:p>
        </p:txBody>
      </p:sp>
      <p:sp>
        <p:nvSpPr>
          <p:cNvPr id="208" name="Google Shape;208;p21"/>
          <p:cNvSpPr txBox="1"/>
          <p:nvPr/>
        </p:nvSpPr>
        <p:spPr>
          <a:xfrm>
            <a:off x="571500" y="571500"/>
            <a:ext cx="11601450" cy="657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125" u="none" cap="none" strike="noStrike">
                <a:solidFill>
                  <a:srgbClr val="10B981"/>
                </a:solidFill>
                <a:latin typeface="Outfit"/>
                <a:ea typeface="Outfit"/>
                <a:cs typeface="Outfit"/>
                <a:sym typeface="Outfit"/>
              </a:rPr>
              <a:t>Business Intelligence - Rendimiento</a:t>
            </a:r>
            <a:endParaRPr/>
          </a:p>
        </p:txBody>
      </p:sp>
      <p:pic>
        <p:nvPicPr>
          <p:cNvPr id="209" name="Picture 208" descr="07-powerbi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2030543"/>
            <a:ext cx="5286375" cy="2968363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image.png" id="104" name="Google Shape;104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6" name="Google Shape;106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1695450"/>
            <a:ext cx="2047875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5"/>
          <p:cNvSpPr txBox="1"/>
          <p:nvPr/>
        </p:nvSpPr>
        <p:spPr>
          <a:xfrm>
            <a:off x="904875" y="224790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Planificación y seguimiento continuo del proyecto utilizando Jira Software.</a:t>
            </a:r>
            <a:r>
              <a:rPr b="0" i="0" lang="en-US" sz="1500" u="none" cap="none" strike="noStrike">
                <a:solidFill>
                  <a:srgbClr val="D1D5D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/>
            </a: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/>
            </a:r>
            <a:endParaRPr/>
          </a:p>
        </p:txBody>
      </p:sp>
      <p:sp>
        <p:nvSpPr>
          <p:cNvPr id="108" name="Google Shape;108;p15"/>
          <p:cNvSpPr txBox="1"/>
          <p:nvPr/>
        </p:nvSpPr>
        <p:spPr>
          <a:xfrm>
            <a:off x="904875" y="2790825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Organización de sprints bimensuales con asignación y estimación de tareas.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904875" y="3638550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Flujo de trabajo estructurado y transparente para todo el equipo de desarrollo.</a:t>
            </a:r>
            <a:endParaRPr/>
          </a:p>
        </p:txBody>
      </p:sp>
      <p:sp>
        <p:nvSpPr>
          <p:cNvPr id="110" name="Google Shape;110;p15"/>
          <p:cNvSpPr txBox="1"/>
          <p:nvPr/>
        </p:nvSpPr>
        <p:spPr>
          <a:xfrm>
            <a:off x="904875" y="4486275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1D5DB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Control completo del backlog y visualización clara del progreso de tareas.</a:t>
            </a:r>
            <a:endParaRPr/>
          </a:p>
        </p:txBody>
      </p:sp>
      <p:sp>
        <p:nvSpPr>
          <p:cNvPr id="112" name="Google Shape;112;p15"/>
          <p:cNvSpPr txBox="1"/>
          <p:nvPr/>
        </p:nvSpPr>
        <p:spPr>
          <a:xfrm>
            <a:off x="571500" y="2247900"/>
            <a:ext cx="1047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0B981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▹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571500" y="2790825"/>
            <a:ext cx="1047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0B981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▹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571500" y="3638550"/>
            <a:ext cx="1047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0B981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▹</a:t>
            </a:r>
            <a:endParaRPr/>
          </a:p>
        </p:txBody>
      </p:sp>
      <p:sp>
        <p:nvSpPr>
          <p:cNvPr id="115" name="Google Shape;115;p15"/>
          <p:cNvSpPr txBox="1"/>
          <p:nvPr/>
        </p:nvSpPr>
        <p:spPr>
          <a:xfrm>
            <a:off x="571500" y="4486275"/>
            <a:ext cx="1047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0B981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▹</a:t>
            </a:r>
            <a:endParaRPr/>
          </a:p>
        </p:txBody>
      </p:sp>
      <p:sp>
        <p:nvSpPr>
          <p:cNvPr id="116" name="Google Shape;116;p15"/>
          <p:cNvSpPr txBox="1"/>
          <p:nvPr/>
        </p:nvSpPr>
        <p:spPr>
          <a:xfrm>
            <a:off x="571500" y="571500"/>
            <a:ext cx="11601450" cy="657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125" u="none" cap="none" strike="noStrike">
                <a:solidFill>
                  <a:srgbClr val="10B981"/>
                </a:solidFill>
                <a:latin typeface="Outfit"/>
                <a:ea typeface="Outfit"/>
                <a:cs typeface="Outfit"/>
                <a:sym typeface="Outfit"/>
              </a:rPr>
              <a:t>Gestión del Proyecto - Tablero Jira</a:t>
            </a:r>
            <a:endParaRPr/>
          </a:p>
        </p:txBody>
      </p:sp>
      <p:pic>
        <p:nvPicPr>
          <p:cNvPr id="117" name="Picture 116" descr="10-ji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648" y="1609725"/>
            <a:ext cx="4757328" cy="381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
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Plus Jakarta Sans"/>
      <p:regular r:id="rId26"/>
      <p:bold r:id="rId27"/>
      <p:italic r:id="rId28"/>
      <p:boldItalic r:id="rId29"/>
    </p:embeddedFont>
    <p:embeddedFont>
      <p:font typeface="Outfit"/>
      <p:regular r:id="rId30"/>
      <p:bold r:id="rId31"/>
    </p:embeddedFont>
    <p:embeddedFont>
      <p:font typeface="Plus Jakarta Sans Light"/>
      <p:regular r:id="rId32"/>
      <p:bold r:id="rId33"/>
      <p:italic r:id="rId34"/>
      <p:boldItalic r:id="rId35"/>
    </p:embeddedFont>
    <p:embeddedFont>
      <p:font typeface="Outfit SemiBold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regular.fntdata"/><Relationship Id="rId25" Type="http://schemas.openxmlformats.org/officeDocument/2006/relationships/slide" Target="slides/slide20.xml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utfit-bold.fntdata"/><Relationship Id="rId30" Type="http://schemas.openxmlformats.org/officeDocument/2006/relationships/font" Target="fonts/Outfit-regular.fntdata"/><Relationship Id="rId11" Type="http://schemas.openxmlformats.org/officeDocument/2006/relationships/slide" Target="slides/slide6.xml"/><Relationship Id="rId33" Type="http://schemas.openxmlformats.org/officeDocument/2006/relationships/font" Target="fonts/PlusJakartaSansLight-bold.fntdata"/><Relationship Id="rId10" Type="http://schemas.openxmlformats.org/officeDocument/2006/relationships/slide" Target="slides/slide5.xml"/><Relationship Id="rId32" Type="http://schemas.openxmlformats.org/officeDocument/2006/relationships/font" Target="fonts/PlusJakartaSansLight-regular.fntdata"/><Relationship Id="rId13" Type="http://schemas.openxmlformats.org/officeDocument/2006/relationships/slide" Target="slides/slide8.xml"/><Relationship Id="rId35" Type="http://schemas.openxmlformats.org/officeDocument/2006/relationships/font" Target="fonts/PlusJakartaSansLight-bold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Light-italic.fntdata"/><Relationship Id="rId15" Type="http://schemas.openxmlformats.org/officeDocument/2006/relationships/slide" Target="slides/slide10.xml"/><Relationship Id="rId37" Type="http://schemas.openxmlformats.org/officeDocument/2006/relationships/font" Target="fonts/OutfitSemiBold-bold.fntdata"/><Relationship Id="rId14" Type="http://schemas.openxmlformats.org/officeDocument/2006/relationships/slide" Target="slides/slide9.xml"/><Relationship Id="rId36" Type="http://schemas.openxmlformats.org/officeDocument/2006/relationships/font" Target="fonts/Outfit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1" Type="http://schemas.openxmlformats.org/officeDocument/2006/relationships/image" Target="../media/image39.png"/><Relationship Id="rId10" Type="http://schemas.openxmlformats.org/officeDocument/2006/relationships/image" Target="../media/image12.png"/><Relationship Id="rId12" Type="http://schemas.openxmlformats.org/officeDocument/2006/relationships/image" Target="../media/image17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4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11" Type="http://schemas.openxmlformats.org/officeDocument/2006/relationships/image" Target="../media/image28.png"/><Relationship Id="rId10" Type="http://schemas.openxmlformats.org/officeDocument/2006/relationships/image" Target="../media/image36.png"/><Relationship Id="rId12" Type="http://schemas.openxmlformats.org/officeDocument/2006/relationships/image" Target="../media/image33.png"/><Relationship Id="rId9" Type="http://schemas.openxmlformats.org/officeDocument/2006/relationships/image" Target="../media/image30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65717" y="2336524"/>
            <a:ext cx="5460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96"/>
              <a:buFont typeface="Arial"/>
              <a:buNone/>
            </a:pPr>
            <a:r>
              <a:rPr b="1" i="0" lang="en-US" sz="7496" u="none" cap="none" strike="noStrike">
                <a:solidFill>
                  <a:srgbClr val="F9FAFB"/>
                </a:solidFill>
                <a:latin typeface="Outfit"/>
                <a:ea typeface="Outfit"/>
                <a:cs typeface="Outfit"/>
                <a:sym typeface="Outfit"/>
              </a:rPr>
              <a:t>Meta-</a:t>
            </a:r>
            <a:r>
              <a:rPr b="1" i="0" lang="en-US" sz="7496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Force</a:t>
            </a:r>
            <a:endParaRPr b="0" i="0" sz="17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811450" y="3621781"/>
            <a:ext cx="65691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rPr b="0" i="0" lang="en-US" sz="2249" u="none" cap="none" strike="noStrike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Plataforma Integral de Gestión de Gimnasios.</a:t>
            </a:r>
            <a:br>
              <a:rPr b="0" i="0" lang="en-US" sz="224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49" u="none" cap="none" strike="noStrike">
                <a:solidFill>
                  <a:srgbClr val="9CA3A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 Guía Oficial de Exposición Técnica y de Negocio.</a:t>
            </a:r>
            <a:endParaRPr b="0" i="0" sz="174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2675" y="581545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Equipo: </a:t>
            </a:r>
            <a:endParaRPr b="0" i="0" sz="1200" u="none" cap="none" strike="noStrike">
              <a:solidFill>
                <a:srgbClr val="9CA3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Salvador B. </a:t>
            </a:r>
            <a:endParaRPr b="0" i="0" sz="1200" u="none" cap="none" strike="noStrike">
              <a:solidFill>
                <a:srgbClr val="9CA3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Mario G. </a:t>
            </a:r>
            <a:endParaRPr b="0" i="0" sz="1200" u="none" cap="none" strike="noStrike">
              <a:solidFill>
                <a:srgbClr val="9CA3A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Samuel G.</a:t>
            </a:r>
            <a:endParaRPr b="0" i="0" sz="1800" u="none" cap="none" strike="noStrike">
              <a:solidFill>
                <a:srgbClr val="9CA3AF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5" y="40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762000"/>
            <a:ext cx="4953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674475"/>
            <a:ext cx="52008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Concepto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88222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Una plataforma SaaS completa y escalable diseñada para la gestión integral de instalaciones deportivas.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71500" y="4191000"/>
            <a:ext cx="4953000" cy="1181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4402375"/>
            <a:ext cx="438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"Buenos días. Hoy os presentamos Meta-Force. Para la exposición vamos a guiarnos a través de este dashboard interactivo, donde podéis ver el acceso al código y al despliegue real."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4191000"/>
            <a:ext cx="38100" cy="1181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0225" y="87730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20478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04875" y="2247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Desarrollo Frontend construido sobre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Angular 19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04875" y="2790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Diseño 100% responsivo y adaptativo para dispositivos móviles.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04875" y="3638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Flujos seguros de registro e inicio de sesión para nuevos clientes.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04875" y="4486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Optimización de rendimiento y experiencia de usuario fluida.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24790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7908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6385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4862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Portal Público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1-landing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16933" y="1609725"/>
            <a:ext cx="4520759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95450"/>
            <a:ext cx="20478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6667500" y="2247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Panel exclusivo para el perfil de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Superadmin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667500" y="2790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Monitorización de estadísticas clave del negocio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6667500" y="3638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Control de usuarios activos y evolución de suscripciones mensuales.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6667500" y="4486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Alertas del sistema y métricas de crecimiento centralizadas.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334125" y="224790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6334125" y="27908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334125" y="36385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334125" y="44862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Consola de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2-dashboard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210" y="1609725"/>
            <a:ext cx="4498954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3429000" cy="3127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09725"/>
            <a:ext cx="3429000" cy="3127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09725"/>
            <a:ext cx="3429000" cy="3127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20002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1715928" y="3000375"/>
            <a:ext cx="114014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Centros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66775" y="3524250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Administración multi-sucursal con configuración independiente de aforos y recursos disponibles.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0002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625941" y="3000375"/>
            <a:ext cx="94011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676775" y="3524250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Catálogo dinámico de actividades dirigidas con asignación de instructores y capacidades.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0" y="20002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275921" y="3000375"/>
            <a:ext cx="126015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Horarios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8486775" y="3524250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Interfaz intuitiva con notificaciones visuales ante conflictos o guardado exitoso de calendarios.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71700" y="222885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500" y="22288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72650" y="22288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Gestión de Operaciones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20478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04875" y="2247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Administración multi-sucursal con configuración independiente de aforos y recursos.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04875" y="2790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Asignación dinámica de instructores, actividades y control de capacidades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904875" y="3638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Visualización del equipamiento, tipos de máquinas y estado de mantenimiento.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904875" y="4486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Calendarios interactivos de horarios con validación y avisos de conflictos.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224790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27908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36385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4862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Gestión de Centros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3-centros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95182"/>
            <a:ext cx="5286375" cy="3639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09725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962025" y="20002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Planes y Facturación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962025" y="2571750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Portal dedicado donde los usuarios pueden explorar y adquirir sus planes de suscripción. El sistema genera automáticamente facturas detalladas descargables en formato PDF para control fiscal y personal.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724650" y="2000250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Internacionalización (i18n)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724650" y="2571750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Plataforma traducida nativamente al Español, Inglés y Francés. La arquitectura de internacionalización permite cambiar de idioma en tiempo real sin necesidad de recargar la aplicación (Hot Swap).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Suscripciones y Facturación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204787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904875" y="2247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Portal dedicado donde los clientes pueden explorar y adquirir planes de suscripción (Basic, Standard, Premium).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904875" y="2790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Pasarela simulada integrada con numeración fiscal estable y cálculo dinámico de periodos.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04875" y="3638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Generación automatizada de facturas en PDF almacenadas de forma segura en Supabase Storage.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904875" y="4486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Envío automático de notificaciones de pago y facturas por correo electrónico mediante Resend.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224790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27908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36385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44862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Suscripciones y Facturación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4-suscripciones.png" id="196" name="Google Shape;19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6116" y="1609725"/>
            <a:ext cx="5242393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22574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904875" y="2519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Escáner integrado en la plataforma Web para uso del personal en la recepción del centro.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33670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Validación instantánea del código QR presentado por el cliente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904875" y="42148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Registro automático de la entrada/salida y actualización inmediata de aforo.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25193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3367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2148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Control de Accesos - Lector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-qr-web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06842"/>
            <a:ext cx="5286375" cy="2815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22574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904875" y="2519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Generación de códigos QR temporales y encriptados de forma segura desde la app móvil.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904875" y="33670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Los códigos QR expiran en segundos y contienen firmas digitales validadas por el backend.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904875" y="42148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Garantiza un control de acceso físico ágil y previene la suplantación de identidad.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571500" y="25193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3367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42148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Control de Accesos - App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5-qr-app.png" id="224" name="Google Shape;22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5096" y="1609725"/>
            <a:ext cx="1824433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125" y="236725"/>
            <a:ext cx="4953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875475"/>
            <a:ext cx="6753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App Nativa - Asistente de Entrenamientos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4057250" y="660075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71500" y="4376200"/>
            <a:ext cx="4953000" cy="981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857250" y="4589638"/>
            <a:ext cx="43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entrenamientos generados se guardan directamente en el perfil del usuario.</a:t>
            </a:r>
            <a:endParaRPr b="0" i="1" sz="12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i="1" sz="1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71500" y="4376200"/>
            <a:ext cx="38100" cy="981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6-ai-chat-1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5000" y="430488"/>
            <a:ext cx="3786750" cy="582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609600" y="2421988"/>
            <a:ext cx="59388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Aplicación Android nativa desarrollada en Kotlin utilizando Jetpack Compose para un rendimiento óptimo.</a:t>
            </a:r>
            <a:br>
              <a:rPr lang="en-US" sz="1500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lang="en-US" sz="1500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Integración de chat conversacional con Inteligencia Artificial (Groq / Llama 3) para generar rutinas personalizadas.</a:t>
            </a:r>
            <a:endParaRPr i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8025"/>
            <a:ext cx="4953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571500" y="1314450"/>
            <a:ext cx="6811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App Nativa - Asistente de Nutrición</a:t>
            </a:r>
            <a:endParaRPr b="0" i="0" sz="4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2826425"/>
            <a:ext cx="4953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Generación instantánea de dietas balanceadas e indicaciones nutricionales personalizadas.</a:t>
            </a:r>
            <a:br>
              <a:rPr lang="en-US" sz="1500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lang="en-US" sz="1500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Navegación interactiva, consistente y almacenamiento local de la sesión mediante DataStore.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71500" y="4736913"/>
            <a:ext cx="4953000" cy="981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857250" y="5042800"/>
            <a:ext cx="438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IA analiza los requerimientos físicos del usuario para proponer el menú óptimo.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71500" y="4736913"/>
            <a:ext cx="38100" cy="981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6-ai-chat-2.png" id="249" name="Google Shape;2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9725" y="306425"/>
            <a:ext cx="2983300" cy="62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6912"/>
            <a:ext cx="22574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6667500" y="2519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Cuadro de mando analítico en Power BI Premium alimentado por un ETL en Python.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6667500" y="33670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Monitoreo avanzado de ingresos mensuales, distribución de planes y suscripciones activas.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6667500" y="42148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Visualización de tendencias de negocio para la toma de decisiones estratégicas.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6334125" y="25193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6334125" y="3367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6334125" y="42148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Business Intelligence - Panel Financiero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-powerbi-1.png" id="263" name="Google Shape;2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2486"/>
            <a:ext cx="5286375" cy="2984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6912"/>
            <a:ext cx="22574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6667500" y="2519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Análisis del comportamiento de los usuarios en los centros y evolución física general.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6667500" y="33670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Visualización detallada de aforos por franjas horarias y de mayor concurrencia.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6667500" y="42148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Ayuda a optimizar recursos, horarios de personal y planificación de clases dirigidas.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6334125" y="25193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6334125" y="3367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6334125" y="42148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Business Intelligence - Rendimiento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7-powerbi-2.png" id="277" name="Google Shape;27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30543"/>
            <a:ext cx="5286375" cy="296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19621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904875" y="2519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Clientes descentralizados desarrollados en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Angular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 (Web) y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Kotlin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 (Móvil).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904875" y="33670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Backend gestionado (BaaS) operando sobre la infraestructura en la nube de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Supabase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904875" y="42148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Resolución de peticiones complejas mediante Edge Functions (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Deno / TypeScript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571500" y="25193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571500" y="3367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571500" y="42148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Arquitectura Física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8-arquitectura.png" id="291" name="Google Shape;2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2312" y="1609725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 txBox="1"/>
          <p:nvPr/>
        </p:nvSpPr>
        <p:spPr>
          <a:xfrm>
            <a:off x="571500" y="555307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Análisis basado en el Lean Canvas. Proyección de escalabilidad mediante cloud computing para mantener costes operativos controlados.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Viabilidad Económica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9-lean-canvas.png"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504" y="1609344"/>
            <a:ext cx="69088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9725"/>
            <a:ext cx="3429000" cy="3402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609725"/>
            <a:ext cx="3429000" cy="3402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1609725"/>
            <a:ext cx="3429000" cy="3402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20002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 txBox="1"/>
          <p:nvPr/>
        </p:nvSpPr>
        <p:spPr>
          <a:xfrm>
            <a:off x="880824" y="3000375"/>
            <a:ext cx="281035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Metodología Scrum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866775" y="352425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Iteraciones de desarrollo estructuradas en Sprints de dos semanas, garantizando entregas incrementales de valor.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1" name="Google Shape;31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0" y="20002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9"/>
          <p:cNvSpPr txBox="1"/>
          <p:nvPr/>
        </p:nvSpPr>
        <p:spPr>
          <a:xfrm>
            <a:off x="5240893" y="3000375"/>
            <a:ext cx="171021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Tablero Jira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4676775" y="352425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Organización milimétrica de tareas, asignación de responsabilidades individuales y trazabilidad del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4" name="Google Shape;31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0" y="20002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/>
          <p:nvPr/>
        </p:nvSpPr>
        <p:spPr>
          <a:xfrm>
            <a:off x="9005887" y="3000375"/>
            <a:ext cx="18002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6B6D4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GitHub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8486775" y="352425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Coordinación del código fuente mediante Pull Requests, evitando bloqueos y facilitando la integración continua.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7" name="Google Shape;317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33600" y="22288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8362" y="2228850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58362" y="2228850"/>
            <a:ext cx="2952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9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Gestión Ágil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904875" y="2247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Planificación y seguimiento continuo del proyecto utilizando Jira Software.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904875" y="27908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Organización de sprints bimensuales con asignación y estimación de tareas.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904875" y="36385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Flujo de trabajo estructurado y transparente para todo el equipo de desarrollo.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904875" y="4486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Control completo del backlog y visualización clara del progreso de tareas.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571500" y="224790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571500" y="27908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571500" y="36385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571500" y="44862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Gestión del Proyecto - Tablero Jira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0-jira.png" id="335" name="Google Shape;33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8648" y="1609725"/>
            <a:ext cx="4757328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647837"/>
            <a:ext cx="19621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6912"/>
            <a:ext cx="19621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904875" y="2519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Consola de Supabase protegida mediante políticas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RLS (Row Level Security)</a:t>
            </a: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904875" y="33670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Aislamiento criptográfico de registros para asegurar la privacidad del cliente.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904875" y="42148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Garantía técnica de que cada usuario únicamente puede leer y mutar su propia información.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571500" y="25193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571500" y="3367087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571500" y="421481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Seguridad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1-supabase.png" id="350" name="Google Shape;35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04427"/>
            <a:ext cx="5286375" cy="3420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5" name="Google Shape;3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/>
          <p:nvPr/>
        </p:nvSpPr>
        <p:spPr>
          <a:xfrm>
            <a:off x="2060495" y="2335269"/>
            <a:ext cx="807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Fin de la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"/>
          <p:cNvSpPr txBox="1"/>
          <p:nvPr/>
        </p:nvSpPr>
        <p:spPr>
          <a:xfrm>
            <a:off x="3238500" y="3716394"/>
            <a:ext cx="5715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Meta-Force es una plataforma completa, robusta y completamente funcional. Quedamos a vuestra disposición para cualquier duda.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